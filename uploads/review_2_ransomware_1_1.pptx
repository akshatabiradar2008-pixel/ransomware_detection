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Lst>
  <p:notesMasterIdLst>
    <p:notesMasterId r:id="rId17"/>
  </p:notesMasterIdLst>
  <p:sldIdLst>
    <p:sldId id="256" r:id="rId2"/>
    <p:sldId id="257" r:id="rId3"/>
    <p:sldId id="260" r:id="rId4"/>
    <p:sldId id="261" r:id="rId5"/>
    <p:sldId id="262" r:id="rId6"/>
    <p:sldId id="269" r:id="rId7"/>
    <p:sldId id="263" r:id="rId8"/>
    <p:sldId id="264" r:id="rId9"/>
    <p:sldId id="265" r:id="rId10"/>
    <p:sldId id="267" r:id="rId11"/>
    <p:sldId id="268" r:id="rId12"/>
    <p:sldId id="270" r:id="rId13"/>
    <p:sldId id="271" r:id="rId14"/>
    <p:sldId id="266" r:id="rId15"/>
    <p:sldId id="272" r:id="rId16"/>
  </p:sldIdLst>
  <p:sldSz cx="12192000" cy="6858000"/>
  <p:notesSz cx="6858000" cy="9144000"/>
  <p:custShowLst>
    <p:custShow name="Custom Show 1" id="0">
      <p:sldLst>
        <p:sld r:id="rId2"/>
        <p:sld r:id="rId3"/>
        <p:sld r:id="rId4"/>
        <p:sld r:id="rId5"/>
        <p:sld r:id="rId6"/>
        <p:sld r:id="rId8"/>
        <p:sld r:id="rId9"/>
        <p:sld r:id="rId10"/>
        <p:sld r:id="rId15"/>
      </p:sldLst>
    </p:custShow>
    <p:custShow name="Custom Show 2" id="1">
      <p:sldLst>
        <p:sld r:id="rId2"/>
        <p:sld r:id="rId3"/>
        <p:sld r:id="rId4"/>
        <p:sld r:id="rId5"/>
        <p:sld r:id="rId6"/>
        <p:sld r:id="rId7"/>
        <p:sld r:id="rId8"/>
        <p:sld r:id="rId9"/>
        <p:sld r:id="rId10"/>
        <p:sld r:id="rId11"/>
        <p:sld r:id="rId12"/>
        <p:sld r:id="rId15"/>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9" autoAdjust="0"/>
    <p:restoredTop sz="94660"/>
  </p:normalViewPr>
  <p:slideViewPr>
    <p:cSldViewPr snapToGrid="0" showGuides="1">
      <p:cViewPr varScale="1">
        <p:scale>
          <a:sx n="78" d="100"/>
          <a:sy n="78" d="100"/>
        </p:scale>
        <p:origin x="75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281C-2D5B-8183-DE27-7498C6A343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CFE2C7-7228-8E9B-3B8A-49696AF4E7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094699-4AC3-8EE0-37DA-BF1788B471EC}"/>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5" name="Footer Placeholder 4">
            <a:extLst>
              <a:ext uri="{FF2B5EF4-FFF2-40B4-BE49-F238E27FC236}">
                <a16:creationId xmlns:a16="http://schemas.microsoft.com/office/drawing/2014/main" id="{ACEC6A68-02BC-19DB-2FC1-F4CAAA7CE98E}"/>
              </a:ext>
            </a:extLst>
          </p:cNvPr>
          <p:cNvSpPr>
            <a:spLocks noGrp="1"/>
          </p:cNvSpPr>
          <p:nvPr>
            <p:ph type="ftr" sz="quarter" idx="11"/>
          </p:nvPr>
        </p:nvSpPr>
        <p:spPr/>
        <p:txBody>
          <a:bodyPr/>
          <a:lstStyle/>
          <a:p>
            <a:r>
              <a:rPr lang="en-US"/>
              <a:t>Dept Of CSE,EWCE</a:t>
            </a:r>
          </a:p>
        </p:txBody>
      </p:sp>
      <p:sp>
        <p:nvSpPr>
          <p:cNvPr id="6" name="Slide Number Placeholder 5">
            <a:extLst>
              <a:ext uri="{FF2B5EF4-FFF2-40B4-BE49-F238E27FC236}">
                <a16:creationId xmlns:a16="http://schemas.microsoft.com/office/drawing/2014/main" id="{54F4DECC-9AFF-827E-C382-346EFE658397}"/>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80432036"/>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68E83-89DB-822B-5E96-DF2236B8CA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E28248-F1D2-4A27-B5CE-3CFB28C53E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61AAF4-E5C9-F273-90D6-659E23B07AFD}"/>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5" name="Footer Placeholder 4">
            <a:extLst>
              <a:ext uri="{FF2B5EF4-FFF2-40B4-BE49-F238E27FC236}">
                <a16:creationId xmlns:a16="http://schemas.microsoft.com/office/drawing/2014/main" id="{A428944D-0EEB-FA9F-BBC9-5F689DA7FE6F}"/>
              </a:ext>
            </a:extLst>
          </p:cNvPr>
          <p:cNvSpPr>
            <a:spLocks noGrp="1"/>
          </p:cNvSpPr>
          <p:nvPr>
            <p:ph type="ftr" sz="quarter" idx="11"/>
          </p:nvPr>
        </p:nvSpPr>
        <p:spPr/>
        <p:txBody>
          <a:bodyPr/>
          <a:lstStyle/>
          <a:p>
            <a:r>
              <a:rPr lang="en-US"/>
              <a:t>Dept Of CSE,EWCE</a:t>
            </a:r>
          </a:p>
        </p:txBody>
      </p:sp>
      <p:sp>
        <p:nvSpPr>
          <p:cNvPr id="6" name="Slide Number Placeholder 5">
            <a:extLst>
              <a:ext uri="{FF2B5EF4-FFF2-40B4-BE49-F238E27FC236}">
                <a16:creationId xmlns:a16="http://schemas.microsoft.com/office/drawing/2014/main" id="{4F3CFCF1-F44A-38CF-0D90-E23CF4CC4B00}"/>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93087503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09F2F-7783-B060-02EA-19285CFCB2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586CB6-2604-900C-3989-4D20B4901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D74FD1-DDFA-96AD-8E4A-74F93DAB9920}"/>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5" name="Footer Placeholder 4">
            <a:extLst>
              <a:ext uri="{FF2B5EF4-FFF2-40B4-BE49-F238E27FC236}">
                <a16:creationId xmlns:a16="http://schemas.microsoft.com/office/drawing/2014/main" id="{852A49FD-A042-F724-ECF0-F33160C4CDEF}"/>
              </a:ext>
            </a:extLst>
          </p:cNvPr>
          <p:cNvSpPr>
            <a:spLocks noGrp="1"/>
          </p:cNvSpPr>
          <p:nvPr>
            <p:ph type="ftr" sz="quarter" idx="11"/>
          </p:nvPr>
        </p:nvSpPr>
        <p:spPr/>
        <p:txBody>
          <a:bodyPr/>
          <a:lstStyle/>
          <a:p>
            <a:r>
              <a:rPr lang="en-US"/>
              <a:t>Dept Of CSE,EWCE</a:t>
            </a:r>
          </a:p>
        </p:txBody>
      </p:sp>
      <p:sp>
        <p:nvSpPr>
          <p:cNvPr id="6" name="Slide Number Placeholder 5">
            <a:extLst>
              <a:ext uri="{FF2B5EF4-FFF2-40B4-BE49-F238E27FC236}">
                <a16:creationId xmlns:a16="http://schemas.microsoft.com/office/drawing/2014/main" id="{6E0C931B-F6DD-9B59-C8D1-000E155704D6}"/>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5635065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DECFF-AA9C-C11B-2328-ED656BD260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5278DD-10C1-15F2-9D09-DF1CB99B23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F352F4-86C6-AEB2-9A68-D3291A6EB1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DE9BB3-3BAD-0DFA-2297-729FC05A4422}"/>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6" name="Footer Placeholder 5">
            <a:extLst>
              <a:ext uri="{FF2B5EF4-FFF2-40B4-BE49-F238E27FC236}">
                <a16:creationId xmlns:a16="http://schemas.microsoft.com/office/drawing/2014/main" id="{D88E941E-360B-8683-270F-9C206F71B230}"/>
              </a:ext>
            </a:extLst>
          </p:cNvPr>
          <p:cNvSpPr>
            <a:spLocks noGrp="1"/>
          </p:cNvSpPr>
          <p:nvPr>
            <p:ph type="ftr" sz="quarter" idx="11"/>
          </p:nvPr>
        </p:nvSpPr>
        <p:spPr/>
        <p:txBody>
          <a:bodyPr/>
          <a:lstStyle/>
          <a:p>
            <a:r>
              <a:rPr lang="en-US"/>
              <a:t>Dept Of CSE,EWCE</a:t>
            </a:r>
          </a:p>
        </p:txBody>
      </p:sp>
      <p:sp>
        <p:nvSpPr>
          <p:cNvPr id="7" name="Slide Number Placeholder 6">
            <a:extLst>
              <a:ext uri="{FF2B5EF4-FFF2-40B4-BE49-F238E27FC236}">
                <a16:creationId xmlns:a16="http://schemas.microsoft.com/office/drawing/2014/main" id="{C120A7E9-E5A5-184A-C2E7-E798D054BAF3}"/>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970490754"/>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DD44E-93A4-3490-ADA3-7EA40B5929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395D17-C52D-63AD-1D44-50CFBC9BBB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84675D-0CCA-AFAE-89A5-C9CA533262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C8AC33-1C5E-BD53-D0F0-A7A61FD40F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D46F97-16A9-5C61-1D2C-2712DD5B99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331CB5-E30A-C71A-13B1-22296F69E86A}"/>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8" name="Footer Placeholder 7">
            <a:extLst>
              <a:ext uri="{FF2B5EF4-FFF2-40B4-BE49-F238E27FC236}">
                <a16:creationId xmlns:a16="http://schemas.microsoft.com/office/drawing/2014/main" id="{2F77AB7C-E053-9002-4460-52727D862DD1}"/>
              </a:ext>
            </a:extLst>
          </p:cNvPr>
          <p:cNvSpPr>
            <a:spLocks noGrp="1"/>
          </p:cNvSpPr>
          <p:nvPr>
            <p:ph type="ftr" sz="quarter" idx="11"/>
          </p:nvPr>
        </p:nvSpPr>
        <p:spPr/>
        <p:txBody>
          <a:bodyPr/>
          <a:lstStyle/>
          <a:p>
            <a:r>
              <a:rPr lang="en-US"/>
              <a:t>Dept Of CSE,EWCE</a:t>
            </a:r>
          </a:p>
        </p:txBody>
      </p:sp>
      <p:sp>
        <p:nvSpPr>
          <p:cNvPr id="9" name="Slide Number Placeholder 8">
            <a:extLst>
              <a:ext uri="{FF2B5EF4-FFF2-40B4-BE49-F238E27FC236}">
                <a16:creationId xmlns:a16="http://schemas.microsoft.com/office/drawing/2014/main" id="{CACE247F-D45B-DDE7-B10C-A1CD9E53AF55}"/>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0589943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65293-C5C6-AC48-8A77-4ACA097E6F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754CD1-F0AC-94B2-C5FC-A08CCD167A0F}"/>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4" name="Footer Placeholder 3">
            <a:extLst>
              <a:ext uri="{FF2B5EF4-FFF2-40B4-BE49-F238E27FC236}">
                <a16:creationId xmlns:a16="http://schemas.microsoft.com/office/drawing/2014/main" id="{647AFEC1-7A3D-9D32-88D3-EDDD2322E222}"/>
              </a:ext>
            </a:extLst>
          </p:cNvPr>
          <p:cNvSpPr>
            <a:spLocks noGrp="1"/>
          </p:cNvSpPr>
          <p:nvPr>
            <p:ph type="ftr" sz="quarter" idx="11"/>
          </p:nvPr>
        </p:nvSpPr>
        <p:spPr/>
        <p:txBody>
          <a:bodyPr/>
          <a:lstStyle/>
          <a:p>
            <a:r>
              <a:rPr lang="en-US"/>
              <a:t>Dept Of CSE,EWCE</a:t>
            </a:r>
          </a:p>
        </p:txBody>
      </p:sp>
      <p:sp>
        <p:nvSpPr>
          <p:cNvPr id="5" name="Slide Number Placeholder 4">
            <a:extLst>
              <a:ext uri="{FF2B5EF4-FFF2-40B4-BE49-F238E27FC236}">
                <a16:creationId xmlns:a16="http://schemas.microsoft.com/office/drawing/2014/main" id="{173830C2-A143-F62A-5D5F-45E51642C668}"/>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13588165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EB1501-057B-B536-3EA8-C1795BA68139}"/>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3" name="Footer Placeholder 2">
            <a:extLst>
              <a:ext uri="{FF2B5EF4-FFF2-40B4-BE49-F238E27FC236}">
                <a16:creationId xmlns:a16="http://schemas.microsoft.com/office/drawing/2014/main" id="{0F13B6E8-6342-FA6C-78AF-AA26A027FEB3}"/>
              </a:ext>
            </a:extLst>
          </p:cNvPr>
          <p:cNvSpPr>
            <a:spLocks noGrp="1"/>
          </p:cNvSpPr>
          <p:nvPr>
            <p:ph type="ftr" sz="quarter" idx="11"/>
          </p:nvPr>
        </p:nvSpPr>
        <p:spPr/>
        <p:txBody>
          <a:bodyPr/>
          <a:lstStyle/>
          <a:p>
            <a:r>
              <a:rPr lang="en-US"/>
              <a:t>Dept Of CSE,EWCE</a:t>
            </a:r>
          </a:p>
        </p:txBody>
      </p:sp>
      <p:sp>
        <p:nvSpPr>
          <p:cNvPr id="4" name="Slide Number Placeholder 3">
            <a:extLst>
              <a:ext uri="{FF2B5EF4-FFF2-40B4-BE49-F238E27FC236}">
                <a16:creationId xmlns:a16="http://schemas.microsoft.com/office/drawing/2014/main" id="{321008C8-DA0D-CBF6-01E9-4DC07E7DBE1E}"/>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94595031"/>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8C9EE-40A4-B89A-28D3-F9027584C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8F8A6E5-1124-5505-BBE4-89A7D71B69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6AA003-5E05-9A88-CBA3-139BAA950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14071F-E369-809A-7BD6-95C6FDC22AAD}"/>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6" name="Footer Placeholder 5">
            <a:extLst>
              <a:ext uri="{FF2B5EF4-FFF2-40B4-BE49-F238E27FC236}">
                <a16:creationId xmlns:a16="http://schemas.microsoft.com/office/drawing/2014/main" id="{2D55A06B-B269-10A5-1E9F-88A328EDC387}"/>
              </a:ext>
            </a:extLst>
          </p:cNvPr>
          <p:cNvSpPr>
            <a:spLocks noGrp="1"/>
          </p:cNvSpPr>
          <p:nvPr>
            <p:ph type="ftr" sz="quarter" idx="11"/>
          </p:nvPr>
        </p:nvSpPr>
        <p:spPr/>
        <p:txBody>
          <a:bodyPr/>
          <a:lstStyle/>
          <a:p>
            <a:r>
              <a:rPr lang="en-US"/>
              <a:t>Dept Of CSE,EWCE</a:t>
            </a:r>
          </a:p>
        </p:txBody>
      </p:sp>
      <p:sp>
        <p:nvSpPr>
          <p:cNvPr id="7" name="Slide Number Placeholder 6">
            <a:extLst>
              <a:ext uri="{FF2B5EF4-FFF2-40B4-BE49-F238E27FC236}">
                <a16:creationId xmlns:a16="http://schemas.microsoft.com/office/drawing/2014/main" id="{23B12C9E-A76E-A14A-58EC-042DC84FAF5F}"/>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88608375"/>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01C0D-183F-257A-501F-AEE0215344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B2D670-9B77-65D7-862A-04A3668C83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EC987E-E4D4-2341-19AB-DA13D11C18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EFE28C-3384-4F8D-DF7A-17C41E1AA4DB}"/>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6" name="Footer Placeholder 5">
            <a:extLst>
              <a:ext uri="{FF2B5EF4-FFF2-40B4-BE49-F238E27FC236}">
                <a16:creationId xmlns:a16="http://schemas.microsoft.com/office/drawing/2014/main" id="{124C2D61-C8C1-316A-7D93-F74D002DD3B6}"/>
              </a:ext>
            </a:extLst>
          </p:cNvPr>
          <p:cNvSpPr>
            <a:spLocks noGrp="1"/>
          </p:cNvSpPr>
          <p:nvPr>
            <p:ph type="ftr" sz="quarter" idx="11"/>
          </p:nvPr>
        </p:nvSpPr>
        <p:spPr/>
        <p:txBody>
          <a:bodyPr/>
          <a:lstStyle/>
          <a:p>
            <a:r>
              <a:rPr lang="en-US"/>
              <a:t>Dept Of CSE,EWCE</a:t>
            </a:r>
          </a:p>
        </p:txBody>
      </p:sp>
      <p:sp>
        <p:nvSpPr>
          <p:cNvPr id="7" name="Slide Number Placeholder 6">
            <a:extLst>
              <a:ext uri="{FF2B5EF4-FFF2-40B4-BE49-F238E27FC236}">
                <a16:creationId xmlns:a16="http://schemas.microsoft.com/office/drawing/2014/main" id="{3C08BD39-3782-5C77-2ED1-C6837990B06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5604901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E3384-F36B-A2E8-698D-4237DF7F7A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F69028-C08C-6189-C7C4-0CA8652F6C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648573-C40C-F074-15D2-E44B3EE49453}"/>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5" name="Footer Placeholder 4">
            <a:extLst>
              <a:ext uri="{FF2B5EF4-FFF2-40B4-BE49-F238E27FC236}">
                <a16:creationId xmlns:a16="http://schemas.microsoft.com/office/drawing/2014/main" id="{A18107E0-2241-8CB6-FED7-34230EF22889}"/>
              </a:ext>
            </a:extLst>
          </p:cNvPr>
          <p:cNvSpPr>
            <a:spLocks noGrp="1"/>
          </p:cNvSpPr>
          <p:nvPr>
            <p:ph type="ftr" sz="quarter" idx="11"/>
          </p:nvPr>
        </p:nvSpPr>
        <p:spPr/>
        <p:txBody>
          <a:bodyPr/>
          <a:lstStyle/>
          <a:p>
            <a:r>
              <a:rPr lang="en-US"/>
              <a:t>Dept Of CSE,EWCE</a:t>
            </a:r>
          </a:p>
        </p:txBody>
      </p:sp>
      <p:sp>
        <p:nvSpPr>
          <p:cNvPr id="6" name="Slide Number Placeholder 5">
            <a:extLst>
              <a:ext uri="{FF2B5EF4-FFF2-40B4-BE49-F238E27FC236}">
                <a16:creationId xmlns:a16="http://schemas.microsoft.com/office/drawing/2014/main" id="{C84845DC-82EB-584C-92C8-D08E501A472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8547705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B60DF1-656C-23EB-660F-16075007DC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C137F0-05F6-2262-2AE6-EA862EF92C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2716CB-5197-A762-1FD9-F0765C63D467}"/>
              </a:ext>
            </a:extLst>
          </p:cNvPr>
          <p:cNvSpPr>
            <a:spLocks noGrp="1"/>
          </p:cNvSpPr>
          <p:nvPr>
            <p:ph type="dt" sz="half" idx="10"/>
          </p:nvPr>
        </p:nvSpPr>
        <p:spPr/>
        <p:txBody>
          <a:bodyPr/>
          <a:lstStyle/>
          <a:p>
            <a:fld id="{63A1C593-65D0-4073-BCC9-577B9352EA97}" type="datetimeFigureOut">
              <a:rPr lang="en-US" smtClean="0"/>
              <a:t>8/24/2026</a:t>
            </a:fld>
            <a:endParaRPr lang="en-US"/>
          </a:p>
        </p:txBody>
      </p:sp>
      <p:sp>
        <p:nvSpPr>
          <p:cNvPr id="5" name="Footer Placeholder 4">
            <a:extLst>
              <a:ext uri="{FF2B5EF4-FFF2-40B4-BE49-F238E27FC236}">
                <a16:creationId xmlns:a16="http://schemas.microsoft.com/office/drawing/2014/main" id="{C2DEB7DA-DA27-A3A3-9939-61A4D2410F55}"/>
              </a:ext>
            </a:extLst>
          </p:cNvPr>
          <p:cNvSpPr>
            <a:spLocks noGrp="1"/>
          </p:cNvSpPr>
          <p:nvPr>
            <p:ph type="ftr" sz="quarter" idx="11"/>
          </p:nvPr>
        </p:nvSpPr>
        <p:spPr/>
        <p:txBody>
          <a:bodyPr/>
          <a:lstStyle/>
          <a:p>
            <a:r>
              <a:rPr lang="en-US"/>
              <a:t>Dept Of CSE,EWCE</a:t>
            </a:r>
          </a:p>
        </p:txBody>
      </p:sp>
      <p:sp>
        <p:nvSpPr>
          <p:cNvPr id="6" name="Slide Number Placeholder 5">
            <a:extLst>
              <a:ext uri="{FF2B5EF4-FFF2-40B4-BE49-F238E27FC236}">
                <a16:creationId xmlns:a16="http://schemas.microsoft.com/office/drawing/2014/main" id="{FAB894B6-829F-C635-4339-645C949FB2D6}"/>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1048497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2FCE2-5916-C82F-D077-BA2212A262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712AD0-620F-774A-F519-463B7FE2E6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148F10-3F48-3C49-B6FB-1D47BDC3B4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8/24/2026</a:t>
            </a:fld>
            <a:endParaRPr lang="en-US"/>
          </a:p>
        </p:txBody>
      </p:sp>
      <p:sp>
        <p:nvSpPr>
          <p:cNvPr id="5" name="Footer Placeholder 4">
            <a:extLst>
              <a:ext uri="{FF2B5EF4-FFF2-40B4-BE49-F238E27FC236}">
                <a16:creationId xmlns:a16="http://schemas.microsoft.com/office/drawing/2014/main" id="{08FEFE16-2D03-C17D-0A67-C0C1072E0C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CSE,EWCE</a:t>
            </a:r>
          </a:p>
        </p:txBody>
      </p:sp>
      <p:sp>
        <p:nvSpPr>
          <p:cNvPr id="6" name="Slide Number Placeholder 5">
            <a:extLst>
              <a:ext uri="{FF2B5EF4-FFF2-40B4-BE49-F238E27FC236}">
                <a16:creationId xmlns:a16="http://schemas.microsoft.com/office/drawing/2014/main" id="{E6407AE3-9C69-C430-EF69-C5C280268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7166838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A3652574-EAB7-4CE2-9823-AA531DB4A5FD}" type="datetime1">
              <a:rPr lang="en-IN" smtClean="0"/>
              <a:t>24-08-2026</a:t>
            </a:fld>
            <a:endParaRPr lang="en-IN"/>
          </a:p>
        </p:txBody>
      </p:sp>
      <p:sp>
        <p:nvSpPr>
          <p:cNvPr id="5" name="Footer Placeholder 4"/>
          <p:cNvSpPr>
            <a:spLocks noGrp="1"/>
          </p:cNvSpPr>
          <p:nvPr>
            <p:ph type="ftr" sz="quarter" idx="11"/>
          </p:nvPr>
        </p:nvSpPr>
        <p:spPr/>
        <p:txBody>
          <a:bodyPr/>
          <a:lstStyle/>
          <a:p>
            <a:r>
              <a:rPr lang="en-US"/>
              <a:t>Dept Of CSE,EWCE</a:t>
            </a:r>
          </a:p>
        </p:txBody>
      </p:sp>
      <p:sp>
        <p:nvSpPr>
          <p:cNvPr id="4" name="Slide Number Placeholder 3"/>
          <p:cNvSpPr>
            <a:spLocks noGrp="1"/>
          </p:cNvSpPr>
          <p:nvPr>
            <p:ph type="sldNum" sz="quarter" idx="12"/>
          </p:nvPr>
        </p:nvSpPr>
        <p:spPr/>
        <p:txBody>
          <a:bodyPr/>
          <a:lstStyle/>
          <a:p>
            <a:fld id="{9B618960-8005-486C-9A75-10CB2AAC16F9}" type="slidenum">
              <a:rPr lang="en-US" smtClean="0"/>
              <a:t>1</a:t>
            </a:fld>
            <a:endParaRPr lang="en-US"/>
          </a:p>
        </p:txBody>
      </p:sp>
      <p:sp>
        <p:nvSpPr>
          <p:cNvPr id="6" name="Title 1"/>
          <p:cNvSpPr>
            <a:spLocks noGrp="1"/>
          </p:cNvSpPr>
          <p:nvPr/>
        </p:nvSpPr>
        <p:spPr>
          <a:xfrm>
            <a:off x="1524000" y="1352550"/>
            <a:ext cx="9144000" cy="1096010"/>
          </a:xfrm>
          <a:prstGeom prst="rect">
            <a:avLst/>
          </a:prstGeom>
        </p:spPr>
        <p:txBody>
          <a:bodyPr vert="horz" lIns="91440" tIns="45720" rIns="91440" bIns="45720" rtlCol="0" anchor="b">
            <a:noAutofit/>
          </a:bodyPr>
          <a:lstStyle>
            <a:lvl1pPr algn="ctr">
              <a:defRPr sz="2000">
                <a:latin typeface="Times New Roman" panose="02020603050405020304" pitchFamily="18" charset="0"/>
                <a:cs typeface="Times New Roman" panose="02020603050405020304" pitchFamily="18" charset="0"/>
              </a:defRPr>
            </a:lvl1pPr>
          </a:lstStyle>
          <a:p>
            <a:r>
              <a:rPr lang="en-IN" b="1" dirty="0">
                <a:solidFill>
                  <a:srgbClr val="C00000"/>
                </a:solidFill>
                <a:latin typeface="Cambria" panose="02040503050406030204" pitchFamily="18" charset="0"/>
                <a:ea typeface="Cambria" panose="02040503050406030204" pitchFamily="18" charset="0"/>
                <a:sym typeface="+mn-ea"/>
              </a:rPr>
              <a:t>Department of Computer Science and Engineering</a:t>
            </a:r>
            <a:br>
              <a:rPr lang="en-IN" b="1" dirty="0">
                <a:solidFill>
                  <a:srgbClr val="C00000"/>
                </a:solidFill>
                <a:latin typeface="Cambria" panose="02040503050406030204" pitchFamily="18" charset="0"/>
                <a:ea typeface="Cambria" panose="02040503050406030204" pitchFamily="18" charset="0"/>
                <a:sym typeface="+mn-ea"/>
              </a:rPr>
            </a:br>
            <a:r>
              <a:rPr lang="en-IN" b="1" dirty="0">
                <a:latin typeface="Times New Roman" panose="02020603050405020304" pitchFamily="18" charset="0"/>
                <a:ea typeface="Cambria" panose="02040503050406030204" pitchFamily="18" charset="0"/>
                <a:cs typeface="Times New Roman" panose="02020603050405020304" pitchFamily="18" charset="0"/>
                <a:sym typeface="+mn-ea"/>
              </a:rPr>
              <a:t>PROJECT PHASE-2</a:t>
            </a:r>
            <a:br>
              <a:rPr lang="en-IN" b="1" dirty="0">
                <a:latin typeface="Times New Roman" panose="02020603050405020304" pitchFamily="18" charset="0"/>
                <a:ea typeface="Cambria" panose="02040503050406030204" pitchFamily="18" charset="0"/>
                <a:cs typeface="Times New Roman" panose="02020603050405020304" pitchFamily="18" charset="0"/>
                <a:sym typeface="+mn-ea"/>
              </a:rPr>
            </a:br>
            <a:r>
              <a:rPr lang="en-IN" b="1" dirty="0">
                <a:latin typeface="Times New Roman" panose="02020603050405020304" pitchFamily="18" charset="0"/>
                <a:ea typeface="Cambria" panose="02040503050406030204" pitchFamily="18" charset="0"/>
                <a:cs typeface="Times New Roman" panose="02020603050405020304" pitchFamily="18" charset="0"/>
                <a:sym typeface="+mn-ea"/>
              </a:rPr>
              <a:t>REVIEW-</a:t>
            </a:r>
            <a:r>
              <a:rPr lang="en-IN" b="1" dirty="0">
                <a:ea typeface="Cambria" panose="02040503050406030204" pitchFamily="18" charset="0"/>
                <a:sym typeface="+mn-ea"/>
              </a:rPr>
              <a:t>2</a:t>
            </a:r>
            <a:endParaRPr lang="en-IN" b="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sym typeface="+mn-ea"/>
            </a:endParaRPr>
          </a:p>
        </p:txBody>
      </p:sp>
      <p:sp>
        <p:nvSpPr>
          <p:cNvPr id="7" name="Subtitle 2"/>
          <p:cNvSpPr>
            <a:spLocks noGrp="1"/>
          </p:cNvSpPr>
          <p:nvPr/>
        </p:nvSpPr>
        <p:spPr>
          <a:xfrm>
            <a:off x="1524000" y="2228961"/>
            <a:ext cx="9144000" cy="3303160"/>
          </a:xfrm>
          <a:prstGeom prst="rect">
            <a:avLst/>
          </a:prstGeom>
        </p:spPr>
        <p:txBody>
          <a:bodyPr vert="horz" lIns="91440" tIns="45720" rIns="91440" bIns="45720" rtlCol="0">
            <a:normAutofit/>
          </a:bodyPr>
          <a:lstStyle>
            <a:lvl1pPr marL="0" indent="0" algn="ctr">
              <a:lnSpc>
                <a:spcPct val="100000"/>
              </a:lnSpc>
              <a:buNone/>
              <a:defRPr sz="2400">
                <a:solidFill>
                  <a:srgbClr val="C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365760" indent="-255270" algn="ctr">
              <a:lnSpc>
                <a:spcPct val="150000"/>
              </a:lnSpc>
              <a:spcBef>
                <a:spcPts val="400"/>
              </a:spcBef>
              <a:tabLst>
                <a:tab pos="0" algn="l"/>
              </a:tabLst>
            </a:pPr>
            <a:r>
              <a:rPr lang="en-US" b="1" spc="-1" dirty="0">
                <a:solidFill>
                  <a:srgbClr val="000000"/>
                </a:solidFill>
                <a:latin typeface="Times New Roman" panose="02020603050405020304"/>
                <a:sym typeface="+mn-ea"/>
              </a:rPr>
              <a:t>Presentation on</a:t>
            </a:r>
          </a:p>
          <a:p>
            <a:pPr marL="365760" indent="-255270" algn="ctr">
              <a:lnSpc>
                <a:spcPct val="150000"/>
              </a:lnSpc>
              <a:spcBef>
                <a:spcPts val="400"/>
              </a:spcBef>
              <a:tabLst>
                <a:tab pos="0" algn="l"/>
              </a:tabLst>
            </a:pPr>
            <a:r>
              <a:rPr lang="en-US" b="1" spc="-1" dirty="0">
                <a:solidFill>
                  <a:srgbClr val="000000"/>
                </a:solidFill>
                <a:latin typeface="Times New Roman" panose="02020603050405020304"/>
                <a:sym typeface="+mn-ea"/>
              </a:rPr>
              <a:t>“</a:t>
            </a:r>
            <a:r>
              <a:rPr lang="en-IN" b="1" spc="-1" dirty="0">
                <a:solidFill>
                  <a:srgbClr val="000000"/>
                </a:solidFill>
                <a:latin typeface="Times New Roman" panose="02020603050405020304"/>
                <a:sym typeface="+mn-ea"/>
              </a:rPr>
              <a:t>RANSOMWARE DETECTION USING MACHINE LEARNING TECHNIQUES</a:t>
            </a:r>
            <a:r>
              <a:rPr lang="en-IN" altLang="en-US" b="1" spc="-1" dirty="0">
                <a:solidFill>
                  <a:srgbClr val="000000"/>
                </a:solidFill>
                <a:latin typeface="Times New Roman" panose="02020603050405020304"/>
                <a:sym typeface="+mn-ea"/>
              </a:rPr>
              <a:t>”</a:t>
            </a:r>
          </a:p>
          <a:p>
            <a:pPr marL="365760" indent="-255270" algn="ctr">
              <a:lnSpc>
                <a:spcPct val="150000"/>
              </a:lnSpc>
              <a:spcBef>
                <a:spcPts val="400"/>
              </a:spcBef>
              <a:tabLst>
                <a:tab pos="0" algn="l"/>
              </a:tabLst>
            </a:pPr>
            <a:endParaRPr lang="en-IN" altLang="en-US" b="1" spc="-1" dirty="0">
              <a:solidFill>
                <a:srgbClr val="000000"/>
              </a:solidFill>
              <a:latin typeface="Times New Roman" panose="02020603050405020304"/>
              <a:sym typeface="+mn-ea"/>
            </a:endParaRPr>
          </a:p>
          <a:p>
            <a:pPr marL="365760" indent="-255270" algn="ctr">
              <a:lnSpc>
                <a:spcPct val="150000"/>
              </a:lnSpc>
              <a:spcBef>
                <a:spcPts val="400"/>
              </a:spcBef>
              <a:tabLst>
                <a:tab pos="0" algn="l"/>
              </a:tabLst>
            </a:pPr>
            <a:endParaRPr lang="en-IN" altLang="en-US" b="1" spc="-1" dirty="0">
              <a:solidFill>
                <a:srgbClr val="000000"/>
              </a:solidFill>
              <a:latin typeface="Times New Roman" panose="02020603050405020304"/>
              <a:sym typeface="+mn-ea"/>
            </a:endParaRPr>
          </a:p>
          <a:p>
            <a:pPr marL="365760" indent="-255270" algn="ctr">
              <a:lnSpc>
                <a:spcPct val="150000"/>
              </a:lnSpc>
              <a:spcBef>
                <a:spcPts val="400"/>
              </a:spcBef>
              <a:tabLst>
                <a:tab pos="0" algn="l"/>
              </a:tabLst>
            </a:pPr>
            <a:endParaRPr lang="en-US" b="1" spc="-1" dirty="0">
              <a:solidFill>
                <a:srgbClr val="000000"/>
              </a:solidFill>
              <a:latin typeface="Times New Roman" panose="02020603050405020304"/>
              <a:sym typeface="+mn-ea"/>
            </a:endParaRPr>
          </a:p>
          <a:p>
            <a:pPr marL="365760" indent="-255270" algn="ctr">
              <a:lnSpc>
                <a:spcPct val="150000"/>
              </a:lnSpc>
              <a:spcBef>
                <a:spcPts val="400"/>
              </a:spcBef>
              <a:tabLst>
                <a:tab pos="0" algn="l"/>
              </a:tabLst>
            </a:pPr>
            <a:endParaRPr lang="en-IN" dirty="0"/>
          </a:p>
        </p:txBody>
      </p:sp>
      <p:sp>
        <p:nvSpPr>
          <p:cNvPr id="9" name="Footer Placeholder 4"/>
          <p:cNvSpPr>
            <a:spLocks noGrp="1"/>
          </p:cNvSpPr>
          <p:nvPr/>
        </p:nvSpPr>
        <p:spPr>
          <a:xfrm>
            <a:off x="4165600" y="6483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DEPT</a:t>
            </a:r>
          </a:p>
        </p:txBody>
      </p:sp>
      <p:sp>
        <p:nvSpPr>
          <p:cNvPr id="10" name="Slide Number Placeholder 5"/>
          <p:cNvSpPr>
            <a:spLocks noGrp="1"/>
          </p:cNvSpPr>
          <p:nvPr/>
        </p:nvSpPr>
        <p:spPr>
          <a:xfrm>
            <a:off x="11125200" y="6356350"/>
            <a:ext cx="914400" cy="501650"/>
          </a:xfrm>
          <a:prstGeom prst="rect">
            <a:avLst/>
          </a:prstGeom>
        </p:spPr>
        <p:txBody>
          <a:bodyPr vert="horz" lIns="91440" tIns="45720" rIns="91440" bIns="45720" rtlCol="0" anchor="ctr"/>
          <a:lstStyle>
            <a:lvl1pPr algn="ctr">
              <a:defRPr sz="2000">
                <a:solidFill>
                  <a:schemeClr val="tx1"/>
                </a:solidFill>
              </a:defRPr>
            </a:lvl1pPr>
          </a:lstStyle>
          <a:p>
            <a:fld id="{E5ABDF98-3321-49A1-97B8-26481F883472}" type="slidenum">
              <a:rPr lang="en-IN" smtClean="0"/>
              <a:t>1</a:t>
            </a:fld>
            <a:endParaRPr lang="en-IN"/>
          </a:p>
        </p:txBody>
      </p:sp>
      <p:sp>
        <p:nvSpPr>
          <p:cNvPr id="11" name="Rectangle 6"/>
          <p:cNvSpPr/>
          <p:nvPr userDrawn="1"/>
        </p:nvSpPr>
        <p:spPr>
          <a:xfrm>
            <a:off x="0" y="6356350"/>
            <a:ext cx="12099234" cy="50165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latin typeface="Arial Black" panose="020B0A04020102020204" pitchFamily="34" charset="0"/>
              </a:rPr>
              <a:t>Dept Of CSE,EWCE                                                                                                   1</a:t>
            </a:r>
          </a:p>
        </p:txBody>
      </p:sp>
      <p:sp>
        <p:nvSpPr>
          <p:cNvPr id="12" name="Rectangle 7"/>
          <p:cNvSpPr/>
          <p:nvPr userDrawn="1"/>
        </p:nvSpPr>
        <p:spPr>
          <a:xfrm>
            <a:off x="0" y="0"/>
            <a:ext cx="12192000" cy="140473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55"/>
              </a:spcBef>
            </a:pPr>
            <a:endParaRPr lang="en-IN" sz="1600" b="1" dirty="0">
              <a:solidFill>
                <a:schemeClr val="bg1"/>
              </a:solidFill>
              <a:latin typeface="Times New Roman" panose="02020603050405020304" pitchFamily="18" charset="0"/>
              <a:cs typeface="Times New Roman" panose="02020603050405020304" pitchFamily="18" charset="0"/>
              <a:sym typeface="+mn-ea"/>
            </a:endParaRPr>
          </a:p>
          <a:p>
            <a:pPr algn="ctr">
              <a:spcBef>
                <a:spcPts val="355"/>
              </a:spcBef>
            </a:pPr>
            <a:endParaRPr lang="en-IN" sz="1600" b="1" dirty="0">
              <a:solidFill>
                <a:schemeClr val="bg1"/>
              </a:solidFill>
              <a:latin typeface="Times New Roman" panose="02020603050405020304" pitchFamily="18" charset="0"/>
              <a:cs typeface="Times New Roman" panose="02020603050405020304" pitchFamily="18" charset="0"/>
              <a:sym typeface="+mn-ea"/>
            </a:endParaRPr>
          </a:p>
          <a:p>
            <a:pPr algn="ctr">
              <a:spcBef>
                <a:spcPts val="355"/>
              </a:spcBef>
            </a:pPr>
            <a:r>
              <a:rPr lang="en-IN" sz="1600" b="1" dirty="0">
                <a:solidFill>
                  <a:schemeClr val="bg1"/>
                </a:solidFill>
                <a:latin typeface="Times New Roman" panose="02020603050405020304" pitchFamily="18" charset="0"/>
                <a:cs typeface="Times New Roman" panose="02020603050405020304" pitchFamily="18" charset="0"/>
                <a:sym typeface="+mn-ea"/>
              </a:rPr>
              <a:t>Vijayanagar Educational Trust</a:t>
            </a:r>
            <a:endParaRPr sz="1600" b="1" dirty="0">
              <a:solidFill>
                <a:schemeClr val="bg1"/>
              </a:solidFill>
              <a:latin typeface="Times New Roman" panose="02020603050405020304" pitchFamily="18" charset="0"/>
              <a:cs typeface="Times New Roman" panose="02020603050405020304" pitchFamily="18" charset="0"/>
              <a:sym typeface="+mn-ea"/>
            </a:endParaRPr>
          </a:p>
          <a:p>
            <a:pPr algn="ctr">
              <a:spcBef>
                <a:spcPts val="355"/>
              </a:spcBef>
            </a:pPr>
            <a:r>
              <a:rPr sz="1600" b="1" dirty="0">
                <a:solidFill>
                  <a:schemeClr val="bg1"/>
                </a:solidFill>
                <a:latin typeface="Times New Roman" panose="02020603050405020304" pitchFamily="18" charset="0"/>
                <a:cs typeface="Times New Roman" panose="02020603050405020304" pitchFamily="18" charset="0"/>
                <a:sym typeface="+mn-ea"/>
              </a:rPr>
              <a:t>EAST</a:t>
            </a:r>
            <a:r>
              <a:rPr sz="1600" b="1" spc="-8" dirty="0">
                <a:solidFill>
                  <a:schemeClr val="bg1"/>
                </a:solidFill>
                <a:latin typeface="Times New Roman" panose="02020603050405020304" pitchFamily="18" charset="0"/>
                <a:cs typeface="Times New Roman" panose="02020603050405020304" pitchFamily="18" charset="0"/>
                <a:sym typeface="+mn-ea"/>
              </a:rPr>
              <a:t> </a:t>
            </a:r>
            <a:r>
              <a:rPr sz="1600" b="1" dirty="0">
                <a:solidFill>
                  <a:schemeClr val="bg1"/>
                </a:solidFill>
                <a:latin typeface="Times New Roman" panose="02020603050405020304" pitchFamily="18" charset="0"/>
                <a:cs typeface="Times New Roman" panose="02020603050405020304" pitchFamily="18" charset="0"/>
                <a:sym typeface="+mn-ea"/>
              </a:rPr>
              <a:t>WEST</a:t>
            </a:r>
            <a:r>
              <a:rPr sz="1600" b="1" spc="-8" dirty="0">
                <a:solidFill>
                  <a:schemeClr val="bg1"/>
                </a:solidFill>
                <a:latin typeface="Times New Roman" panose="02020603050405020304" pitchFamily="18" charset="0"/>
                <a:cs typeface="Times New Roman" panose="02020603050405020304" pitchFamily="18" charset="0"/>
                <a:sym typeface="+mn-ea"/>
              </a:rPr>
              <a:t> </a:t>
            </a:r>
            <a:r>
              <a:rPr sz="1600" b="1" spc="4" dirty="0">
                <a:solidFill>
                  <a:schemeClr val="bg1"/>
                </a:solidFill>
                <a:latin typeface="Times New Roman" panose="02020603050405020304" pitchFamily="18" charset="0"/>
                <a:cs typeface="Times New Roman" panose="02020603050405020304" pitchFamily="18" charset="0"/>
                <a:sym typeface="+mn-ea"/>
              </a:rPr>
              <a:t>COLLEGE</a:t>
            </a:r>
            <a:r>
              <a:rPr sz="1600" b="1" spc="-12" dirty="0">
                <a:solidFill>
                  <a:schemeClr val="bg1"/>
                </a:solidFill>
                <a:latin typeface="Times New Roman" panose="02020603050405020304" pitchFamily="18" charset="0"/>
                <a:cs typeface="Times New Roman" panose="02020603050405020304" pitchFamily="18" charset="0"/>
                <a:sym typeface="+mn-ea"/>
              </a:rPr>
              <a:t> </a:t>
            </a:r>
            <a:r>
              <a:rPr sz="1600" b="1" spc="-4" dirty="0">
                <a:solidFill>
                  <a:schemeClr val="bg1"/>
                </a:solidFill>
                <a:latin typeface="Times New Roman" panose="02020603050405020304" pitchFamily="18" charset="0"/>
                <a:cs typeface="Times New Roman" panose="02020603050405020304" pitchFamily="18" charset="0"/>
                <a:sym typeface="+mn-ea"/>
              </a:rPr>
              <a:t>OF</a:t>
            </a:r>
            <a:r>
              <a:rPr sz="1600" b="1" spc="-12" dirty="0">
                <a:solidFill>
                  <a:schemeClr val="bg1"/>
                </a:solidFill>
                <a:latin typeface="Times New Roman" panose="02020603050405020304" pitchFamily="18" charset="0"/>
                <a:cs typeface="Times New Roman" panose="02020603050405020304" pitchFamily="18" charset="0"/>
                <a:sym typeface="+mn-ea"/>
              </a:rPr>
              <a:t> </a:t>
            </a:r>
            <a:r>
              <a:rPr sz="1600" b="1" spc="4" dirty="0">
                <a:solidFill>
                  <a:schemeClr val="bg1"/>
                </a:solidFill>
                <a:latin typeface="Times New Roman" panose="02020603050405020304" pitchFamily="18" charset="0"/>
                <a:cs typeface="Times New Roman" panose="02020603050405020304" pitchFamily="18" charset="0"/>
                <a:sym typeface="+mn-ea"/>
              </a:rPr>
              <a:t>ENGINEERING</a:t>
            </a:r>
          </a:p>
          <a:p>
            <a:pPr algn="ctr">
              <a:spcBef>
                <a:spcPts val="355"/>
              </a:spcBef>
            </a:pPr>
            <a:r>
              <a:rPr lang="en-IN" sz="1600" b="1" spc="4" dirty="0">
                <a:solidFill>
                  <a:schemeClr val="bg1"/>
                </a:solidFill>
                <a:latin typeface="Times New Roman" panose="02020603050405020304" pitchFamily="18" charset="0"/>
                <a:cs typeface="Times New Roman" panose="02020603050405020304" pitchFamily="18" charset="0"/>
                <a:sym typeface="+mn-ea"/>
              </a:rPr>
              <a:t>Affiliated to VTU Belagavi,Approved by AICTE,New Delhi, Recognized by Govt of Karnataka</a:t>
            </a:r>
            <a:endParaRPr sz="1600" b="1" spc="4" dirty="0">
              <a:solidFill>
                <a:schemeClr val="bg1"/>
              </a:solidFill>
              <a:latin typeface="Times New Roman" panose="02020603050405020304" pitchFamily="18" charset="0"/>
              <a:cs typeface="Times New Roman" panose="02020603050405020304" pitchFamily="18" charset="0"/>
              <a:sym typeface="+mn-ea"/>
            </a:endParaRPr>
          </a:p>
          <a:p>
            <a:pPr algn="ctr">
              <a:spcBef>
                <a:spcPts val="355"/>
              </a:spcBef>
            </a:pPr>
            <a:r>
              <a:rPr sz="1600" spc="-8" dirty="0">
                <a:solidFill>
                  <a:schemeClr val="bg1"/>
                </a:solidFill>
                <a:latin typeface="Times New Roman" panose="02020603050405020304" pitchFamily="18" charset="0"/>
                <a:cs typeface="Times New Roman" panose="02020603050405020304" pitchFamily="18" charset="0"/>
                <a:sym typeface="+mn-ea"/>
              </a:rPr>
              <a:t>(CA</a:t>
            </a:r>
            <a:r>
              <a:rPr sz="1600" spc="17"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Site, 13,</a:t>
            </a:r>
            <a:r>
              <a:rPr sz="1600" spc="-8"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Sector</a:t>
            </a:r>
            <a:r>
              <a:rPr sz="1600" spc="17" dirty="0">
                <a:solidFill>
                  <a:schemeClr val="bg1"/>
                </a:solidFill>
                <a:latin typeface="Times New Roman" panose="02020603050405020304" pitchFamily="18" charset="0"/>
                <a:cs typeface="Times New Roman" panose="02020603050405020304" pitchFamily="18" charset="0"/>
                <a:sym typeface="+mn-ea"/>
              </a:rPr>
              <a:t> </a:t>
            </a:r>
            <a:r>
              <a:rPr sz="1600" spc="-8" dirty="0">
                <a:solidFill>
                  <a:schemeClr val="bg1"/>
                </a:solidFill>
                <a:latin typeface="Times New Roman" panose="02020603050405020304" pitchFamily="18" charset="0"/>
                <a:cs typeface="Times New Roman" panose="02020603050405020304" pitchFamily="18" charset="0"/>
                <a:sym typeface="+mn-ea"/>
              </a:rPr>
              <a:t>A,</a:t>
            </a:r>
            <a:r>
              <a:rPr sz="1600" spc="17"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Yelahanka</a:t>
            </a:r>
            <a:r>
              <a:rPr sz="1600"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New</a:t>
            </a:r>
            <a:r>
              <a:rPr sz="1600"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Town,</a:t>
            </a:r>
            <a:r>
              <a:rPr sz="1600" spc="4"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Bengaluru,</a:t>
            </a:r>
            <a:r>
              <a:rPr sz="1600" spc="12"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Karnataka</a:t>
            </a:r>
            <a:r>
              <a:rPr sz="1600" spc="12" dirty="0">
                <a:solidFill>
                  <a:schemeClr val="bg1"/>
                </a:solidFill>
                <a:latin typeface="Times New Roman" panose="02020603050405020304" pitchFamily="18" charset="0"/>
                <a:cs typeface="Times New Roman" panose="02020603050405020304" pitchFamily="18" charset="0"/>
                <a:sym typeface="+mn-ea"/>
              </a:rPr>
              <a:t> </a:t>
            </a:r>
            <a:r>
              <a:rPr sz="1600" spc="-4" dirty="0">
                <a:solidFill>
                  <a:schemeClr val="bg1"/>
                </a:solidFill>
                <a:latin typeface="Times New Roman" panose="02020603050405020304" pitchFamily="18" charset="0"/>
                <a:cs typeface="Times New Roman" panose="02020603050405020304" pitchFamily="18" charset="0"/>
                <a:sym typeface="+mn-ea"/>
              </a:rPr>
              <a:t>560064)</a:t>
            </a:r>
          </a:p>
          <a:p>
            <a:pPr algn="ctr">
              <a:spcBef>
                <a:spcPts val="355"/>
              </a:spcBef>
            </a:pPr>
            <a:endParaRPr spc="-4" dirty="0">
              <a:solidFill>
                <a:schemeClr val="bg1"/>
              </a:solidFill>
              <a:latin typeface="Palatino Linotype" panose="02040502050505030304"/>
              <a:cs typeface="Palatino Linotype" panose="02040502050505030304"/>
              <a:sym typeface="+mn-ea"/>
            </a:endParaRPr>
          </a:p>
          <a:p>
            <a:pPr algn="ctr"/>
            <a:endParaRPr lang="en-IN" dirty="0"/>
          </a:p>
          <a:p>
            <a:pPr algn="ctr"/>
            <a:r>
              <a:rPr lang="en-IN" dirty="0"/>
              <a:t>                    </a:t>
            </a:r>
          </a:p>
        </p:txBody>
      </p:sp>
      <p:pic>
        <p:nvPicPr>
          <p:cNvPr id="13" name="image1.jpeg"/>
          <p:cNvPicPr/>
          <p:nvPr userDrawn="1"/>
        </p:nvPicPr>
        <p:blipFill>
          <a:blip r:embed="rId2" cstate="print"/>
          <a:stretch>
            <a:fillRect/>
          </a:stretch>
        </p:blipFill>
        <p:spPr>
          <a:xfrm>
            <a:off x="0" y="-635"/>
            <a:ext cx="1216025" cy="1353185"/>
          </a:xfrm>
          <a:prstGeom prst="rect">
            <a:avLst/>
          </a:prstGeom>
        </p:spPr>
      </p:pic>
      <p:pic>
        <p:nvPicPr>
          <p:cNvPr id="93" name="Picture 5"/>
          <p:cNvPicPr/>
          <p:nvPr userDrawn="1"/>
        </p:nvPicPr>
        <p:blipFill>
          <a:blip r:embed="rId3"/>
          <a:stretch>
            <a:fillRect/>
          </a:stretch>
        </p:blipFill>
        <p:spPr>
          <a:xfrm>
            <a:off x="11125200" y="-635"/>
            <a:ext cx="1066800" cy="1353820"/>
          </a:xfrm>
          <a:prstGeom prst="rect">
            <a:avLst/>
          </a:prstGeom>
          <a:ln w="0">
            <a:noFill/>
          </a:ln>
        </p:spPr>
      </p:pic>
      <p:sp>
        <p:nvSpPr>
          <p:cNvPr id="14" name="Text Box 13"/>
          <p:cNvSpPr txBox="1"/>
          <p:nvPr userDrawn="1"/>
        </p:nvSpPr>
        <p:spPr>
          <a:xfrm>
            <a:off x="561340" y="4252595"/>
            <a:ext cx="2378710" cy="1967230"/>
          </a:xfrm>
          <a:prstGeom prst="rect">
            <a:avLst/>
          </a:prstGeom>
          <a:noFill/>
        </p:spPr>
        <p:txBody>
          <a:bodyPr wrap="square" rtlCol="0">
            <a:noAutofit/>
          </a:bodyPr>
          <a:lstStyle/>
          <a:p>
            <a:pPr marL="365760" indent="-255270" algn="ctr">
              <a:lnSpc>
                <a:spcPct val="150000"/>
              </a:lnSpc>
              <a:spcBef>
                <a:spcPts val="400"/>
              </a:spcBef>
              <a:tabLst>
                <a:tab pos="0" algn="l"/>
              </a:tabLst>
            </a:pPr>
            <a:r>
              <a:rPr lang="en-IN" b="1" spc="-1" dirty="0">
                <a:solidFill>
                  <a:srgbClr val="000000"/>
                </a:solidFill>
                <a:latin typeface="Times New Roman" panose="02020603050405020304"/>
                <a:sym typeface="+mn-ea"/>
              </a:rPr>
              <a:t>Presented </a:t>
            </a:r>
            <a:r>
              <a:rPr lang="en-IN" b="1" i="1" spc="-1" dirty="0">
                <a:solidFill>
                  <a:srgbClr val="000000"/>
                </a:solidFill>
                <a:latin typeface="Times New Roman" panose="02020603050405020304"/>
                <a:sym typeface="+mn-ea"/>
              </a:rPr>
              <a:t>by:</a:t>
            </a:r>
          </a:p>
          <a:p>
            <a:pPr marL="365760" indent="-255270" algn="just">
              <a:spcBef>
                <a:spcPts val="400"/>
              </a:spcBef>
              <a:tabLst>
                <a:tab pos="0" algn="l"/>
              </a:tabLst>
            </a:pPr>
            <a:r>
              <a:rPr lang="en-IN" altLang="en-US" spc="-1" dirty="0">
                <a:solidFill>
                  <a:srgbClr val="000000"/>
                </a:solidFill>
                <a:latin typeface="Times New Roman" panose="02020603050405020304"/>
                <a:sym typeface="+mn-ea"/>
              </a:rPr>
              <a:t>       AKSHATA G B</a:t>
            </a:r>
          </a:p>
          <a:p>
            <a:pPr marL="365760" indent="-255270" algn="just">
              <a:spcBef>
                <a:spcPts val="400"/>
              </a:spcBef>
              <a:tabLst>
                <a:tab pos="0" algn="l"/>
              </a:tabLst>
            </a:pPr>
            <a:r>
              <a:rPr lang="en-IN" altLang="en-US" spc="-1" dirty="0">
                <a:solidFill>
                  <a:srgbClr val="000000"/>
                </a:solidFill>
                <a:latin typeface="Times New Roman" panose="02020603050405020304"/>
                <a:sym typeface="+mn-ea"/>
              </a:rPr>
              <a:t>       ANANYA K</a:t>
            </a:r>
          </a:p>
          <a:p>
            <a:pPr marL="365760" indent="-255270" algn="just">
              <a:spcBef>
                <a:spcPts val="400"/>
              </a:spcBef>
              <a:tabLst>
                <a:tab pos="0" algn="l"/>
              </a:tabLst>
            </a:pPr>
            <a:r>
              <a:rPr lang="en-IN" altLang="en-US" spc="-1" dirty="0">
                <a:solidFill>
                  <a:srgbClr val="000000"/>
                </a:solidFill>
                <a:latin typeface="Times New Roman" panose="02020603050405020304"/>
                <a:sym typeface="+mn-ea"/>
              </a:rPr>
              <a:t>       ANJU K</a:t>
            </a:r>
          </a:p>
          <a:p>
            <a:pPr marL="365760" indent="-255270" algn="just">
              <a:spcBef>
                <a:spcPts val="400"/>
              </a:spcBef>
              <a:tabLst>
                <a:tab pos="0" algn="l"/>
              </a:tabLst>
            </a:pPr>
            <a:r>
              <a:rPr lang="en-IN" altLang="en-US" spc="-1" dirty="0">
                <a:solidFill>
                  <a:srgbClr val="000000"/>
                </a:solidFill>
                <a:latin typeface="Times New Roman" panose="02020603050405020304"/>
                <a:sym typeface="+mn-ea"/>
              </a:rPr>
              <a:t>       ANUSHA </a:t>
            </a:r>
            <a:endParaRPr lang="en-GB" altLang="en-US" dirty="0"/>
          </a:p>
        </p:txBody>
      </p:sp>
      <p:sp>
        <p:nvSpPr>
          <p:cNvPr id="15" name="Text Box 14"/>
          <p:cNvSpPr txBox="1"/>
          <p:nvPr/>
        </p:nvSpPr>
        <p:spPr>
          <a:xfrm>
            <a:off x="8373110" y="4375785"/>
            <a:ext cx="2845435" cy="1156335"/>
          </a:xfrm>
          <a:prstGeom prst="rect">
            <a:avLst/>
          </a:prstGeom>
          <a:noFill/>
        </p:spPr>
        <p:txBody>
          <a:bodyPr wrap="square" rtlCol="0" anchor="t">
            <a:noAutofit/>
          </a:bodyPr>
          <a:lstStyle/>
          <a:p>
            <a:pPr marL="365760" indent="-255270" algn="ctr">
              <a:lnSpc>
                <a:spcPct val="150000"/>
              </a:lnSpc>
              <a:spcBef>
                <a:spcPts val="400"/>
              </a:spcBef>
              <a:tabLst>
                <a:tab pos="0" algn="l"/>
              </a:tabLst>
            </a:pPr>
            <a:r>
              <a:rPr lang="en-IN" b="1" spc="-1" dirty="0">
                <a:solidFill>
                  <a:schemeClr val="tx1"/>
                </a:solidFill>
                <a:latin typeface="Times New Roman" panose="02020603050405020304" pitchFamily="18" charset="0"/>
                <a:cs typeface="Times New Roman" panose="02020603050405020304" pitchFamily="18" charset="0"/>
                <a:sym typeface="+mn-ea"/>
              </a:rPr>
              <a:t>Under the guidance of</a:t>
            </a:r>
            <a:endParaRPr lang="en-IN" b="1" strike="noStrike" spc="-1" dirty="0">
              <a:solidFill>
                <a:schemeClr val="tx1"/>
              </a:solidFill>
              <a:latin typeface="Times New Roman" panose="02020603050405020304" pitchFamily="18" charset="0"/>
              <a:cs typeface="Times New Roman" panose="02020603050405020304" pitchFamily="18" charset="0"/>
            </a:endParaRPr>
          </a:p>
          <a:p>
            <a:pPr marL="365760" indent="-255270" algn="ctr">
              <a:lnSpc>
                <a:spcPct val="150000"/>
              </a:lnSpc>
              <a:spcBef>
                <a:spcPts val="400"/>
              </a:spcBef>
              <a:tabLst>
                <a:tab pos="0" algn="l"/>
              </a:tabLst>
            </a:pPr>
            <a:r>
              <a:rPr lang="en-IN" b="0" strike="noStrike" spc="-1" dirty="0">
                <a:solidFill>
                  <a:schemeClr val="tx1"/>
                </a:solidFill>
                <a:latin typeface="Times New Roman" panose="02020603050405020304" pitchFamily="18" charset="0"/>
                <a:cs typeface="Times New Roman" panose="02020603050405020304" pitchFamily="18" charset="0"/>
              </a:rPr>
              <a:t>GNANAMANI H</a:t>
            </a:r>
          </a:p>
          <a:p>
            <a:pPr marL="365760" indent="-255270" algn="ctr">
              <a:lnSpc>
                <a:spcPct val="150000"/>
              </a:lnSpc>
              <a:spcBef>
                <a:spcPts val="400"/>
              </a:spcBef>
              <a:tabLst>
                <a:tab pos="0" algn="l"/>
              </a:tabLst>
            </a:pPr>
            <a:r>
              <a:rPr lang="en-IN" spc="-1" dirty="0">
                <a:solidFill>
                  <a:schemeClr val="tx1"/>
                </a:solidFill>
                <a:latin typeface="Times New Roman" panose="02020603050405020304" pitchFamily="18" charset="0"/>
                <a:cs typeface="Times New Roman" panose="02020603050405020304" pitchFamily="18" charset="0"/>
                <a:sym typeface="+mn-ea"/>
              </a:rPr>
              <a:t>Assistant Professor</a:t>
            </a:r>
            <a:endParaRPr lang="en-IN" altLang="en-US" spc="-1"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3600" b="1" dirty="0">
                <a:solidFill>
                  <a:schemeClr val="accent1">
                    <a:lumMod val="50000"/>
                  </a:schemeClr>
                </a:solidFill>
                <a:latin typeface="Algerian" panose="04020705040A02060702" pitchFamily="82" charset="0"/>
                <a:sym typeface="+mn-ea"/>
              </a:rPr>
              <a:t>contents</a:t>
            </a:r>
            <a:endParaRPr lang="en-GB" altLang="en-US" sz="3600" b="1" dirty="0">
              <a:solidFill>
                <a:schemeClr val="accent1">
                  <a:lumMod val="50000"/>
                </a:schemeClr>
              </a:solidFill>
              <a:latin typeface="Algerian" panose="04020705040A02060702" pitchFamily="82" charset="0"/>
            </a:endParaRPr>
          </a:p>
        </p:txBody>
      </p:sp>
      <p:sp>
        <p:nvSpPr>
          <p:cNvPr id="3" name="Content Placeholder 2"/>
          <p:cNvSpPr>
            <a:spLocks noGrp="1"/>
          </p:cNvSpPr>
          <p:nvPr>
            <p:ph idx="1"/>
          </p:nvPr>
        </p:nvSpPr>
        <p:spPr>
          <a:xfrm>
            <a:off x="523568" y="1690688"/>
            <a:ext cx="10515600" cy="4351338"/>
          </a:xfrm>
        </p:spPr>
        <p:txBody>
          <a:bodyPr/>
          <a:lstStyle/>
          <a:p>
            <a:pPr lvl="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sym typeface="+mn-ea"/>
              </a:rPr>
              <a:t>Abstract</a:t>
            </a:r>
            <a:endParaRPr lang="en-US" alt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sym typeface="+mn-ea"/>
              </a:rPr>
              <a:t>Introduction</a:t>
            </a:r>
            <a:endParaRPr lang="en-US" alt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sym typeface="+mn-ea"/>
              </a:rPr>
              <a:t>Literature survey</a:t>
            </a:r>
          </a:p>
          <a:p>
            <a:pPr lvl="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sym typeface="+mn-ea"/>
              </a:rPr>
              <a:t>Problem statement</a:t>
            </a:r>
            <a:endParaRPr lang="en-US" alt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sym typeface="+mn-ea"/>
              </a:rPr>
              <a:t>Objective &amp; scope</a:t>
            </a:r>
            <a:endParaRPr lang="en-US" alt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sym typeface="+mn-ea"/>
              </a:rPr>
              <a:t>Requirements</a:t>
            </a:r>
          </a:p>
          <a:p>
            <a:pPr lvl="0" algn="just">
              <a:buFont typeface="Wingdings" panose="05000000000000000000" pitchFamily="2" charset="2"/>
              <a:buChar char="Ø"/>
            </a:pPr>
            <a:r>
              <a:rPr lang="en-US" altLang="en-GB" dirty="0">
                <a:latin typeface="Times New Roman" panose="02020603050405020304" pitchFamily="18" charset="0"/>
                <a:cs typeface="Times New Roman" panose="02020603050405020304" pitchFamily="18" charset="0"/>
                <a:sym typeface="+mn-ea"/>
              </a:rPr>
              <a:t>Methodology</a:t>
            </a:r>
            <a:endParaRPr lang="en-US" alt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IN" altLang="en-US" dirty="0">
                <a:latin typeface="Times New Roman" panose="02020603050405020304" pitchFamily="18" charset="0"/>
                <a:cs typeface="Times New Roman" panose="02020603050405020304" pitchFamily="18" charset="0"/>
                <a:sym typeface="+mn-ea"/>
              </a:rPr>
              <a:t>References</a:t>
            </a:r>
            <a:endParaRPr lang="en-IN" alt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GB" alt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B618960-8005-486C-9A75-10CB2AAC16F9}" type="slidenum">
              <a:rPr lang="en-US" sz="2000" smtClean="0">
                <a:latin typeface="Times New Roman" panose="02020603050405020304" pitchFamily="18" charset="0"/>
                <a:cs typeface="Times New Roman" panose="02020603050405020304" pitchFamily="18" charset="0"/>
              </a:rPr>
              <a:t>2</a:t>
            </a:fld>
            <a:endParaRPr lang="en-US" sz="200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B4BDD78-31B1-2532-666D-4C36028E17A0}"/>
              </a:ext>
            </a:extLst>
          </p:cNvPr>
          <p:cNvSpPr>
            <a:spLocks noGrp="1"/>
          </p:cNvSpPr>
          <p:nvPr>
            <p:ph type="ftr" sz="quarter" idx="11"/>
          </p:nvPr>
        </p:nvSpPr>
        <p:spPr/>
        <p:txBody>
          <a:bodyPr/>
          <a:lstStyle/>
          <a:p>
            <a:r>
              <a:rPr lang="en-US"/>
              <a:t>Dept Of CSE,EWCE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4"/>
            <a:ext cx="10515600" cy="1554163"/>
          </a:xfrm>
        </p:spPr>
        <p:txBody>
          <a:bodyPr>
            <a:normAutofit/>
          </a:bodyPr>
          <a:lstStyle/>
          <a:p>
            <a:r>
              <a:rPr lang="en-GB" altLang="en-US" sz="3200" dirty="0"/>
              <a:t>                                          </a:t>
            </a:r>
            <a:r>
              <a:rPr lang="en-GB" altLang="en-US" sz="3200" b="1" dirty="0">
                <a:solidFill>
                  <a:schemeClr val="accent1">
                    <a:lumMod val="50000"/>
                  </a:schemeClr>
                </a:solidFill>
                <a:latin typeface="Algerian" panose="04020705040A02060702" pitchFamily="82" charset="0"/>
              </a:rPr>
              <a:t>ABSTRACT</a:t>
            </a:r>
          </a:p>
        </p:txBody>
      </p:sp>
      <p:sp>
        <p:nvSpPr>
          <p:cNvPr id="3" name="Content Placeholder 2"/>
          <p:cNvSpPr>
            <a:spLocks noGrp="1"/>
          </p:cNvSpPr>
          <p:nvPr>
            <p:ph idx="1"/>
          </p:nvPr>
        </p:nvSpPr>
        <p:spPr>
          <a:xfrm>
            <a:off x="838200" y="1366684"/>
            <a:ext cx="10515600" cy="4810279"/>
          </a:xfrm>
        </p:spPr>
        <p:txBody>
          <a:bodyPr>
            <a:norm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Ransomware is a type of malicious software that encrypts user data and demands ransom for recovery, creating serious security problems. Traditional antivirus systems use signature-based detection, which cannot detect new ransomware variants. This project proposes a machine learning-based ransomware detection system. The system analyzes system behavior such as file activity, CPU usage, memory usage, and network activity to detect ransomware. Machine learning algorithms are used to classify programs as ransomware or normal software. This approach helps in early detection and prevents data loss and financial damage.</a:t>
            </a:r>
            <a:endParaRPr lang="en-GB" alt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B618960-8005-486C-9A75-10CB2AAC16F9}" type="slidenum">
              <a:rPr lang="en-US" sz="2000" b="1" smtClean="0">
                <a:latin typeface="Times New Roman" panose="02020603050405020304" pitchFamily="18" charset="0"/>
                <a:cs typeface="Times New Roman" panose="02020603050405020304" pitchFamily="18" charset="0"/>
              </a:rPr>
              <a:t>3</a:t>
            </a:fld>
            <a:endParaRPr lang="en-US" sz="2000" b="1">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4E9DDC01-6CCA-BF01-90BC-4988504D7586}"/>
              </a:ext>
            </a:extLst>
          </p:cNvPr>
          <p:cNvSpPr>
            <a:spLocks noGrp="1"/>
          </p:cNvSpPr>
          <p:nvPr>
            <p:ph type="ftr" sz="quarter" idx="11"/>
          </p:nvPr>
        </p:nvSpPr>
        <p:spPr/>
        <p:txBody>
          <a:bodyPr/>
          <a:lstStyle/>
          <a:p>
            <a:r>
              <a:rPr lang="en-US"/>
              <a:t>Dept Of CSE,EWCE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9B52-B7A4-47D3-33AF-89B5FD96ED54}"/>
              </a:ext>
            </a:extLst>
          </p:cNvPr>
          <p:cNvSpPr>
            <a:spLocks noGrp="1"/>
          </p:cNvSpPr>
          <p:nvPr>
            <p:ph type="title"/>
          </p:nvPr>
        </p:nvSpPr>
        <p:spPr>
          <a:xfrm>
            <a:off x="838200" y="-265471"/>
            <a:ext cx="10515600" cy="1828800"/>
          </a:xfrm>
        </p:spPr>
        <p:txBody>
          <a:bodyPr>
            <a:normAutofit/>
          </a:bodyPr>
          <a:lstStyle/>
          <a:p>
            <a:r>
              <a:rPr lang="en-US" sz="3600" dirty="0">
                <a:solidFill>
                  <a:schemeClr val="accent6"/>
                </a:solidFill>
                <a:latin typeface="Algerian" panose="04020705040A02060702" pitchFamily="82" charset="0"/>
              </a:rPr>
              <a:t>                                </a:t>
            </a:r>
            <a:r>
              <a:rPr lang="en-US" sz="3200" b="1" dirty="0">
                <a:solidFill>
                  <a:schemeClr val="accent1">
                    <a:lumMod val="50000"/>
                  </a:schemeClr>
                </a:solidFill>
                <a:latin typeface="Algerian" panose="04020705040A02060702" pitchFamily="82" charset="0"/>
              </a:rPr>
              <a:t>INTRODUCTION</a:t>
            </a:r>
            <a:endParaRPr lang="en-IN" sz="3200" b="1" dirty="0">
              <a:solidFill>
                <a:schemeClr val="accent1">
                  <a:lumMod val="50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1FAD2DB3-F1D9-A71D-0148-B1A538F340CE}"/>
              </a:ext>
            </a:extLst>
          </p:cNvPr>
          <p:cNvSpPr>
            <a:spLocks noGrp="1"/>
          </p:cNvSpPr>
          <p:nvPr>
            <p:ph idx="1"/>
          </p:nvPr>
        </p:nvSpPr>
        <p:spPr>
          <a:xfrm>
            <a:off x="838200" y="1356852"/>
            <a:ext cx="10515600" cy="5364623"/>
          </a:xfrm>
        </p:spPr>
        <p:txBody>
          <a:bodyPr>
            <a:normAutofit/>
          </a:bodyPr>
          <a:lstStyle/>
          <a:p>
            <a:pPr algn="just">
              <a:lnSpc>
                <a:spcPct val="100000"/>
              </a:lnSpc>
            </a:pPr>
            <a:r>
              <a:rPr lang="en-US" dirty="0"/>
              <a:t> </a:t>
            </a:r>
            <a:r>
              <a:rPr lang="en-US" sz="2400" dirty="0">
                <a:latin typeface="Times New Roman" panose="02020603050405020304" pitchFamily="18" charset="0"/>
                <a:cs typeface="Times New Roman" panose="02020603050405020304" pitchFamily="18" charset="0"/>
              </a:rPr>
              <a:t>Ransomware attacks are increasing rapidly across the world.</a:t>
            </a:r>
          </a:p>
          <a:p>
            <a:pPr algn="just">
              <a:lnSpc>
                <a:spcPct val="100000"/>
              </a:lnSpc>
            </a:pPr>
            <a:r>
              <a:rPr lang="en-US" sz="2400" dirty="0">
                <a:latin typeface="Times New Roman" panose="02020603050405020304" pitchFamily="18" charset="0"/>
                <a:cs typeface="Times New Roman" panose="02020603050405020304" pitchFamily="18" charset="0"/>
              </a:rPr>
              <a:t> Ransomware encrypts files and asks for ransom money to decrypt them.</a:t>
            </a:r>
          </a:p>
          <a:p>
            <a:pPr algn="just">
              <a:lnSpc>
                <a:spcPct val="100000"/>
              </a:lnSpc>
            </a:pPr>
            <a:r>
              <a:rPr lang="en-US" sz="2400" dirty="0">
                <a:latin typeface="Times New Roman" panose="02020603050405020304" pitchFamily="18" charset="0"/>
                <a:cs typeface="Times New Roman" panose="02020603050405020304" pitchFamily="18" charset="0"/>
              </a:rPr>
              <a:t>Many individuals, companies, and organizations are affected by ransomware attacks.</a:t>
            </a:r>
          </a:p>
          <a:p>
            <a:pPr algn="just">
              <a:lnSpc>
                <a:spcPct val="100000"/>
              </a:lnSpc>
            </a:pPr>
            <a:r>
              <a:rPr lang="en-US" sz="2400" dirty="0">
                <a:latin typeface="Times New Roman" panose="02020603050405020304" pitchFamily="18" charset="0"/>
                <a:cs typeface="Times New Roman" panose="02020603050405020304" pitchFamily="18" charset="0"/>
              </a:rPr>
              <a:t>Traditional detection methods fail to detect new ransomware variants.</a:t>
            </a:r>
          </a:p>
          <a:p>
            <a:pPr algn="just">
              <a:lnSpc>
                <a:spcPct val="100000"/>
              </a:lnSpc>
            </a:pPr>
            <a:r>
              <a:rPr lang="en-US" sz="2400" dirty="0">
                <a:latin typeface="Times New Roman" panose="02020603050405020304" pitchFamily="18" charset="0"/>
                <a:cs typeface="Times New Roman" panose="02020603050405020304" pitchFamily="18" charset="0"/>
              </a:rPr>
              <a:t> Machine Learning helps in detecting unknown ransomware using behavior analysis.</a:t>
            </a:r>
          </a:p>
          <a:p>
            <a:pPr algn="just">
              <a:lnSpc>
                <a:spcPct val="100000"/>
              </a:lnSpc>
            </a:pPr>
            <a:r>
              <a:rPr lang="en-US" sz="2400" dirty="0">
                <a:latin typeface="Times New Roman" panose="02020603050405020304" pitchFamily="18" charset="0"/>
                <a:cs typeface="Times New Roman" panose="02020603050405020304" pitchFamily="18" charset="0"/>
              </a:rPr>
              <a:t>ML models learn patterns from previous ransomware attacks.</a:t>
            </a:r>
          </a:p>
          <a:p>
            <a:pPr algn="just">
              <a:lnSpc>
                <a:spcPct val="100000"/>
              </a:lnSpc>
            </a:pPr>
            <a:r>
              <a:rPr lang="en-US" sz="2400" dirty="0">
                <a:latin typeface="Times New Roman" panose="02020603050405020304" pitchFamily="18" charset="0"/>
                <a:cs typeface="Times New Roman" panose="02020603050405020304" pitchFamily="18" charset="0"/>
              </a:rPr>
              <a:t>The system monitors system activities like file access, registry changes, and network behavior.</a:t>
            </a:r>
            <a:endParaRPr lang="en-IN"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308D3BB-5303-37F6-F6CA-7F384954F3C4}"/>
              </a:ext>
            </a:extLst>
          </p:cNvPr>
          <p:cNvSpPr>
            <a:spLocks noGrp="1"/>
          </p:cNvSpPr>
          <p:nvPr>
            <p:ph type="sldNum" sz="quarter" idx="12"/>
          </p:nvPr>
        </p:nvSpPr>
        <p:spPr/>
        <p:txBody>
          <a:bodyPr/>
          <a:lstStyle/>
          <a:p>
            <a:fld id="{9B618960-8005-486C-9A75-10CB2AAC16F9}" type="slidenum">
              <a:rPr lang="en-US" smtClean="0"/>
              <a:t>4</a:t>
            </a:fld>
            <a:endParaRPr lang="en-US"/>
          </a:p>
        </p:txBody>
      </p:sp>
      <p:sp>
        <p:nvSpPr>
          <p:cNvPr id="4" name="Footer Placeholder 3">
            <a:extLst>
              <a:ext uri="{FF2B5EF4-FFF2-40B4-BE49-F238E27FC236}">
                <a16:creationId xmlns:a16="http://schemas.microsoft.com/office/drawing/2014/main" id="{C716E0B9-5635-F7FB-906B-EC996D2E231B}"/>
              </a:ext>
            </a:extLst>
          </p:cNvPr>
          <p:cNvSpPr>
            <a:spLocks noGrp="1"/>
          </p:cNvSpPr>
          <p:nvPr>
            <p:ph type="ftr" sz="quarter" idx="11"/>
          </p:nvPr>
        </p:nvSpPr>
        <p:spPr/>
        <p:txBody>
          <a:bodyPr/>
          <a:lstStyle/>
          <a:p>
            <a:r>
              <a:rPr lang="en-US"/>
              <a:t>Dept Of CSE,EWCE</a:t>
            </a:r>
          </a:p>
        </p:txBody>
      </p:sp>
    </p:spTree>
    <p:extLst>
      <p:ext uri="{BB962C8B-B14F-4D97-AF65-F5344CB8AC3E}">
        <p14:creationId xmlns:p14="http://schemas.microsoft.com/office/powerpoint/2010/main" val="1863599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78B45-2C37-8577-7DB4-8CB8C0AB6E2C}"/>
              </a:ext>
            </a:extLst>
          </p:cNvPr>
          <p:cNvSpPr>
            <a:spLocks noGrp="1"/>
          </p:cNvSpPr>
          <p:nvPr>
            <p:ph type="title"/>
          </p:nvPr>
        </p:nvSpPr>
        <p:spPr>
          <a:xfrm>
            <a:off x="838200" y="1"/>
            <a:ext cx="10515600" cy="782319"/>
          </a:xfrm>
        </p:spPr>
        <p:txBody>
          <a:bodyPr>
            <a:normAutofit/>
          </a:bodyPr>
          <a:lstStyle/>
          <a:p>
            <a:pPr algn="ctr"/>
            <a:r>
              <a:rPr lang="en-US" sz="3200" b="1" dirty="0">
                <a:solidFill>
                  <a:schemeClr val="accent1">
                    <a:lumMod val="50000"/>
                  </a:schemeClr>
                </a:solidFill>
                <a:latin typeface="Algerian" panose="04020705040A02060702" pitchFamily="82" charset="0"/>
              </a:rPr>
              <a:t>LITRATURE</a:t>
            </a:r>
            <a:r>
              <a:rPr lang="en-US" sz="3600" b="1" dirty="0">
                <a:solidFill>
                  <a:schemeClr val="accent6"/>
                </a:solidFill>
                <a:latin typeface="Algerian" panose="04020705040A02060702" pitchFamily="82" charset="0"/>
              </a:rPr>
              <a:t> </a:t>
            </a:r>
            <a:r>
              <a:rPr lang="en-US" sz="3200" b="1" dirty="0">
                <a:solidFill>
                  <a:schemeClr val="accent1">
                    <a:lumMod val="50000"/>
                  </a:schemeClr>
                </a:solidFill>
                <a:latin typeface="Algerian" panose="04020705040A02060702" pitchFamily="82" charset="0"/>
              </a:rPr>
              <a:t>SURVEY</a:t>
            </a:r>
            <a:endParaRPr lang="en-IN" sz="3200" b="1" dirty="0">
              <a:solidFill>
                <a:schemeClr val="accent1">
                  <a:lumMod val="50000"/>
                </a:schemeClr>
              </a:solidFill>
              <a:latin typeface="Algerian" panose="04020705040A02060702" pitchFamily="82" charset="0"/>
            </a:endParaRPr>
          </a:p>
        </p:txBody>
      </p:sp>
      <p:graphicFrame>
        <p:nvGraphicFramePr>
          <p:cNvPr id="7" name="Content Placeholder 6">
            <a:extLst>
              <a:ext uri="{FF2B5EF4-FFF2-40B4-BE49-F238E27FC236}">
                <a16:creationId xmlns:a16="http://schemas.microsoft.com/office/drawing/2014/main" id="{C578AC96-FDAC-066F-9694-9BB42D832FF0}"/>
              </a:ext>
            </a:extLst>
          </p:cNvPr>
          <p:cNvGraphicFramePr>
            <a:graphicFrameLocks noGrp="1"/>
          </p:cNvGraphicFramePr>
          <p:nvPr>
            <p:ph idx="1"/>
            <p:extLst>
              <p:ext uri="{D42A27DB-BD31-4B8C-83A1-F6EECF244321}">
                <p14:modId xmlns:p14="http://schemas.microsoft.com/office/powerpoint/2010/main" val="1639030429"/>
              </p:ext>
            </p:extLst>
          </p:nvPr>
        </p:nvGraphicFramePr>
        <p:xfrm>
          <a:off x="0" y="671333"/>
          <a:ext cx="12192000" cy="6186667"/>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797397">
                  <a:extLst>
                    <a:ext uri="{9D8B030D-6E8A-4147-A177-3AD203B41FA5}">
                      <a16:colId xmlns:a16="http://schemas.microsoft.com/office/drawing/2014/main" val="3788906250"/>
                    </a:ext>
                  </a:extLst>
                </a:gridCol>
                <a:gridCol w="761097">
                  <a:extLst>
                    <a:ext uri="{9D8B030D-6E8A-4147-A177-3AD203B41FA5}">
                      <a16:colId xmlns:a16="http://schemas.microsoft.com/office/drawing/2014/main" val="308076511"/>
                    </a:ext>
                  </a:extLst>
                </a:gridCol>
                <a:gridCol w="1785253">
                  <a:extLst>
                    <a:ext uri="{9D8B030D-6E8A-4147-A177-3AD203B41FA5}">
                      <a16:colId xmlns:a16="http://schemas.microsoft.com/office/drawing/2014/main" val="695421090"/>
                    </a:ext>
                  </a:extLst>
                </a:gridCol>
                <a:gridCol w="2923198">
                  <a:extLst>
                    <a:ext uri="{9D8B030D-6E8A-4147-A177-3AD203B41FA5}">
                      <a16:colId xmlns:a16="http://schemas.microsoft.com/office/drawing/2014/main" val="3133631148"/>
                    </a:ext>
                  </a:extLst>
                </a:gridCol>
                <a:gridCol w="3594286">
                  <a:extLst>
                    <a:ext uri="{9D8B030D-6E8A-4147-A177-3AD203B41FA5}">
                      <a16:colId xmlns:a16="http://schemas.microsoft.com/office/drawing/2014/main" val="2486868071"/>
                    </a:ext>
                  </a:extLst>
                </a:gridCol>
                <a:gridCol w="2330769">
                  <a:extLst>
                    <a:ext uri="{9D8B030D-6E8A-4147-A177-3AD203B41FA5}">
                      <a16:colId xmlns:a16="http://schemas.microsoft.com/office/drawing/2014/main" val="2631168233"/>
                    </a:ext>
                  </a:extLst>
                </a:gridCol>
              </a:tblGrid>
              <a:tr h="498270">
                <a:tc>
                  <a:txBody>
                    <a:bodyPr/>
                    <a:lstStyle/>
                    <a:p>
                      <a:pPr marL="0"/>
                      <a:r>
                        <a:rPr lang="en-US" dirty="0"/>
                        <a:t>SL.NO</a:t>
                      </a:r>
                      <a:endParaRPr lang="en-IN" dirty="0"/>
                    </a:p>
                  </a:txBody>
                  <a:tcPr/>
                </a:tc>
                <a:tc>
                  <a:txBody>
                    <a:bodyPr/>
                    <a:lstStyle/>
                    <a:p>
                      <a:pPr marL="0"/>
                      <a:r>
                        <a:rPr lang="en-US" dirty="0"/>
                        <a:t>YEAR</a:t>
                      </a:r>
                      <a:endParaRPr lang="en-IN" dirty="0"/>
                    </a:p>
                  </a:txBody>
                  <a:tcPr/>
                </a:tc>
                <a:tc>
                  <a:txBody>
                    <a:bodyPr/>
                    <a:lstStyle/>
                    <a:p>
                      <a:pPr marL="0"/>
                      <a:r>
                        <a:rPr lang="en-US" dirty="0"/>
                        <a:t>AUTHOR NAME</a:t>
                      </a:r>
                      <a:endParaRPr lang="en-IN" dirty="0"/>
                    </a:p>
                  </a:txBody>
                  <a:tcPr/>
                </a:tc>
                <a:tc>
                  <a:txBody>
                    <a:bodyPr/>
                    <a:lstStyle/>
                    <a:p>
                      <a:pPr marL="0"/>
                      <a:r>
                        <a:rPr lang="en-US" b="1" dirty="0"/>
                        <a:t>TITLE</a:t>
                      </a:r>
                      <a:endParaRPr lang="en-IN" b="1" dirty="0"/>
                    </a:p>
                  </a:txBody>
                  <a:tcPr>
                    <a:lnB w="12700" cap="flat" cmpd="sng" algn="ctr">
                      <a:noFill/>
                      <a:prstDash val="solid"/>
                      <a:round/>
                      <a:headEnd type="none" w="med" len="med"/>
                      <a:tailEnd type="none" w="med" len="med"/>
                    </a:lnB>
                  </a:tcPr>
                </a:tc>
                <a:tc>
                  <a:txBody>
                    <a:bodyPr/>
                    <a:lstStyle/>
                    <a:p>
                      <a:pPr marL="0"/>
                      <a:r>
                        <a:rPr lang="en-US" dirty="0"/>
                        <a:t>SUMMARY</a:t>
                      </a:r>
                      <a:endParaRPr lang="en-IN" dirty="0"/>
                    </a:p>
                  </a:txBody>
                  <a:tcPr/>
                </a:tc>
                <a:tc>
                  <a:txBody>
                    <a:bodyPr/>
                    <a:lstStyle/>
                    <a:p>
                      <a:pPr marL="0"/>
                      <a:r>
                        <a:rPr lang="en-US" dirty="0"/>
                        <a:t>DRAWBACK</a:t>
                      </a:r>
                      <a:endParaRPr lang="en-IN" dirty="0"/>
                    </a:p>
                  </a:txBody>
                  <a:tcPr/>
                </a:tc>
                <a:extLst>
                  <a:ext uri="{0D108BD9-81ED-4DB2-BD59-A6C34878D82A}">
                    <a16:rowId xmlns:a16="http://schemas.microsoft.com/office/drawing/2014/main" val="3654909875"/>
                  </a:ext>
                </a:extLst>
              </a:tr>
              <a:tr h="1832616">
                <a:tc>
                  <a:txBody>
                    <a:bodyPr/>
                    <a:lstStyle/>
                    <a:p>
                      <a:pPr marL="0"/>
                      <a:r>
                        <a:rPr lang="en-US" dirty="0"/>
                        <a:t>1</a:t>
                      </a:r>
                      <a:endParaRPr lang="en-IN" dirty="0"/>
                    </a:p>
                  </a:txBody>
                  <a:tcPr/>
                </a:tc>
                <a:tc>
                  <a:txBody>
                    <a:bodyPr/>
                    <a:lstStyle/>
                    <a:p>
                      <a:pPr marL="0"/>
                      <a:r>
                        <a:rPr lang="en-IN" dirty="0"/>
                        <a:t>2024</a:t>
                      </a:r>
                    </a:p>
                    <a:p>
                      <a:pPr marL="0"/>
                      <a:r>
                        <a:rPr lang="en-IN" dirty="0"/>
                        <a:t>(Mar)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Jonathan Zapata et al</a:t>
                      </a:r>
                    </a:p>
                    <a:p>
                      <a:pPr marL="0"/>
                      <a:endParaRPr lang="en-IN" dirty="0"/>
                    </a:p>
                  </a:txBody>
                  <a:tcPr>
                    <a:lnR w="12700" cap="flat" cmpd="sng" algn="ctr">
                      <a:no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Ransomware Detection with Machine Learning: Techniques, Challenges and Future Directions</a:t>
                      </a:r>
                      <a:endParaRPr lang="en-IN" dirty="0">
                        <a:latin typeface="Times New Roman" panose="02020603050405020304" pitchFamily="18" charset="0"/>
                        <a:cs typeface="Times New Roman" panose="02020603050405020304" pitchFamily="18" charset="0"/>
                      </a:endParaRPr>
                    </a:p>
                    <a:p>
                      <a:pPr marL="0"/>
                      <a:endParaRPr lang="en-I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paper reviews ML techniques using Random forest, SVM,</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and Neural Networks.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pPr marL="0"/>
                      <a:endParaRPr lang="en-IN" dirty="0"/>
                    </a:p>
                  </a:txBody>
                  <a:tcPr>
                    <a:lnL w="12700" cap="flat" cmpd="sng" algn="ctr">
                      <a:noFill/>
                      <a:prstDash val="solid"/>
                      <a:round/>
                      <a:headEnd type="none" w="med" len="med"/>
                      <a:tailEnd type="none" w="med" len="med"/>
                    </a:lnL>
                  </a:tcPr>
                </a:tc>
                <a:tc>
                  <a:txBody>
                    <a:bodyPr/>
                    <a:lstStyle/>
                    <a:p>
                      <a:pPr marL="0" algn="just"/>
                      <a:r>
                        <a:rPr lang="en-US" dirty="0"/>
                        <a:t>It lacks real time implementation</a:t>
                      </a:r>
                      <a:endParaRPr lang="en-IN" dirty="0"/>
                    </a:p>
                  </a:txBody>
                  <a:tcPr/>
                </a:tc>
                <a:extLst>
                  <a:ext uri="{0D108BD9-81ED-4DB2-BD59-A6C34878D82A}">
                    <a16:rowId xmlns:a16="http://schemas.microsoft.com/office/drawing/2014/main" val="2043868597"/>
                  </a:ext>
                </a:extLst>
              </a:tr>
              <a:tr h="1489000">
                <a:tc>
                  <a:txBody>
                    <a:bodyPr/>
                    <a:lstStyle/>
                    <a:p>
                      <a:pPr marL="0"/>
                      <a:r>
                        <a:rPr lang="en-US" dirty="0"/>
                        <a:t>2</a:t>
                      </a:r>
                      <a:endParaRPr lang="en-IN" dirty="0"/>
                    </a:p>
                  </a:txBody>
                  <a:tcPr/>
                </a:tc>
                <a:tc>
                  <a:txBody>
                    <a:bodyPr/>
                    <a:lstStyle/>
                    <a:p>
                      <a:pPr marL="0"/>
                      <a:r>
                        <a:rPr lang="en-IN" dirty="0"/>
                        <a:t>2024</a:t>
                      </a:r>
                    </a:p>
                    <a:p>
                      <a:pPr marL="0"/>
                      <a:r>
                        <a:rPr lang="en-IN" dirty="0"/>
                        <a:t>(Jul)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Shayma jawed et al.</a:t>
                      </a:r>
                    </a:p>
                    <a:p>
                      <a:pPr marL="0"/>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Machine learning approaches to ransomware detection </a:t>
                      </a:r>
                    </a:p>
                    <a:p>
                      <a:pPr marL="0"/>
                      <a:endParaRPr lang="en-IN" dirty="0">
                        <a:latin typeface="Times New Roman" panose="02020603050405020304" pitchFamily="18" charset="0"/>
                        <a:cs typeface="Times New Roman" panose="02020603050405020304" pitchFamily="18" charset="0"/>
                      </a:endParaRPr>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paper performs a comparative analysis of ML alg like Decision tree, Random Forest and SVM.</a:t>
                      </a:r>
                      <a:endParaRPr lang="en-IN" dirty="0"/>
                    </a:p>
                    <a:p>
                      <a:pPr marL="0"/>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Lacks real-world deployment and faces challenges</a:t>
                      </a:r>
                    </a:p>
                  </a:txBody>
                  <a:tcPr/>
                </a:tc>
                <a:extLst>
                  <a:ext uri="{0D108BD9-81ED-4DB2-BD59-A6C34878D82A}">
                    <a16:rowId xmlns:a16="http://schemas.microsoft.com/office/drawing/2014/main" val="4084319719"/>
                  </a:ext>
                </a:extLst>
              </a:tr>
              <a:tr h="2366781">
                <a:tc>
                  <a:txBody>
                    <a:bodyPr/>
                    <a:lstStyle/>
                    <a:p>
                      <a:pPr marL="0"/>
                      <a:r>
                        <a:rPr lang="en-US" dirty="0"/>
                        <a:t>3</a:t>
                      </a:r>
                      <a:endParaRPr lang="en-IN" dirty="0"/>
                    </a:p>
                  </a:txBody>
                  <a:tcPr/>
                </a:tc>
                <a:tc>
                  <a:txBody>
                    <a:bodyPr/>
                    <a:lstStyle/>
                    <a:p>
                      <a:pPr marL="0"/>
                      <a:r>
                        <a:rPr lang="en-IN" dirty="0"/>
                        <a:t>2024</a:t>
                      </a:r>
                    </a:p>
                    <a:p>
                      <a:pPr marL="0"/>
                      <a:r>
                        <a:rPr lang="en-IN" dirty="0"/>
                        <a:t>(oct)</a:t>
                      </a:r>
                    </a:p>
                  </a:txBody>
                  <a:tcPr/>
                </a:tc>
                <a:tc>
                  <a:txBody>
                    <a:bodyPr/>
                    <a:lstStyle/>
                    <a:p>
                      <a:pPr marL="0"/>
                      <a:r>
                        <a:rPr lang="en-US" dirty="0"/>
                        <a:t>T.M.H.Mohamed et al</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Ransomware Early Detection Model Based on Enhanced Machine Intelligence.</a:t>
                      </a:r>
                      <a:endParaRPr lang="en-IN" dirty="0">
                        <a:latin typeface="Times New Roman" panose="02020603050405020304" pitchFamily="18" charset="0"/>
                        <a:cs typeface="Times New Roman" panose="02020603050405020304" pitchFamily="18" charset="0"/>
                      </a:endParaRPr>
                    </a:p>
                    <a:p>
                      <a:pPr marL="0"/>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This paper presents an early detection model that analyzes system behavior before file encryption occurs.</a:t>
                      </a:r>
                    </a:p>
                    <a:p>
                      <a:pPr marL="0"/>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Performance depends on training data and risk of overfitting and poor generalization</a:t>
                      </a: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a:endParaRPr lang="en-IN" dirty="0"/>
                    </a:p>
                  </a:txBody>
                  <a:tcPr/>
                </a:tc>
                <a:extLst>
                  <a:ext uri="{0D108BD9-81ED-4DB2-BD59-A6C34878D82A}">
                    <a16:rowId xmlns:a16="http://schemas.microsoft.com/office/drawing/2014/main" val="135144668"/>
                  </a:ext>
                </a:extLst>
              </a:tr>
            </a:tbl>
          </a:graphicData>
        </a:graphic>
      </p:graphicFrame>
      <p:sp>
        <p:nvSpPr>
          <p:cNvPr id="5" name="Slide Number Placeholder 4">
            <a:extLst>
              <a:ext uri="{FF2B5EF4-FFF2-40B4-BE49-F238E27FC236}">
                <a16:creationId xmlns:a16="http://schemas.microsoft.com/office/drawing/2014/main" id="{200CCB7D-A817-93F2-EE22-83B758E59E99}"/>
              </a:ext>
            </a:extLst>
          </p:cNvPr>
          <p:cNvSpPr>
            <a:spLocks noGrp="1"/>
          </p:cNvSpPr>
          <p:nvPr>
            <p:ph type="sldNum" sz="quarter" idx="12"/>
          </p:nvPr>
        </p:nvSpPr>
        <p:spPr/>
        <p:txBody>
          <a:bodyPr/>
          <a:lstStyle/>
          <a:p>
            <a:fld id="{9B618960-8005-486C-9A75-10CB2AAC16F9}" type="slidenum">
              <a:rPr lang="en-US" smtClean="0"/>
              <a:t>5</a:t>
            </a:fld>
            <a:endParaRPr lang="en-US"/>
          </a:p>
        </p:txBody>
      </p:sp>
    </p:spTree>
    <p:extLst>
      <p:ext uri="{BB962C8B-B14F-4D97-AF65-F5344CB8AC3E}">
        <p14:creationId xmlns:p14="http://schemas.microsoft.com/office/powerpoint/2010/main" val="1356884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9927AC4-4481-10DC-EC44-934F24203D8D}"/>
              </a:ext>
            </a:extLst>
          </p:cNvPr>
          <p:cNvSpPr>
            <a:spLocks noGrp="1"/>
          </p:cNvSpPr>
          <p:nvPr>
            <p:ph type="ftr" sz="quarter" idx="11"/>
          </p:nvPr>
        </p:nvSpPr>
        <p:spPr/>
        <p:txBody>
          <a:bodyPr/>
          <a:lstStyle/>
          <a:p>
            <a:r>
              <a:rPr lang="en-US"/>
              <a:t>Dept Of CSE,EWCE</a:t>
            </a:r>
          </a:p>
        </p:txBody>
      </p:sp>
      <p:sp>
        <p:nvSpPr>
          <p:cNvPr id="3" name="Slide Number Placeholder 2">
            <a:extLst>
              <a:ext uri="{FF2B5EF4-FFF2-40B4-BE49-F238E27FC236}">
                <a16:creationId xmlns:a16="http://schemas.microsoft.com/office/drawing/2014/main" id="{A62F5B97-6B7E-6A7A-52EE-82F237226E21}"/>
              </a:ext>
            </a:extLst>
          </p:cNvPr>
          <p:cNvSpPr>
            <a:spLocks noGrp="1"/>
          </p:cNvSpPr>
          <p:nvPr>
            <p:ph type="sldNum" sz="quarter" idx="12"/>
          </p:nvPr>
        </p:nvSpPr>
        <p:spPr/>
        <p:txBody>
          <a:bodyPr/>
          <a:lstStyle/>
          <a:p>
            <a:fld id="{9B618960-8005-486C-9A75-10CB2AAC16F9}" type="slidenum">
              <a:rPr lang="en-US" smtClean="0"/>
              <a:t>6</a:t>
            </a:fld>
            <a:endParaRPr lang="en-US"/>
          </a:p>
        </p:txBody>
      </p:sp>
      <p:graphicFrame>
        <p:nvGraphicFramePr>
          <p:cNvPr id="4" name="Table 3">
            <a:extLst>
              <a:ext uri="{FF2B5EF4-FFF2-40B4-BE49-F238E27FC236}">
                <a16:creationId xmlns:a16="http://schemas.microsoft.com/office/drawing/2014/main" id="{9ABC30FD-92C8-5B7C-386C-7F69EFD261CE}"/>
              </a:ext>
            </a:extLst>
          </p:cNvPr>
          <p:cNvGraphicFramePr>
            <a:graphicFrameLocks noGrp="1"/>
          </p:cNvGraphicFramePr>
          <p:nvPr>
            <p:extLst>
              <p:ext uri="{D42A27DB-BD31-4B8C-83A1-F6EECF244321}">
                <p14:modId xmlns:p14="http://schemas.microsoft.com/office/powerpoint/2010/main" val="2207691821"/>
              </p:ext>
            </p:extLst>
          </p:nvPr>
        </p:nvGraphicFramePr>
        <p:xfrm>
          <a:off x="0" y="0"/>
          <a:ext cx="12192001" cy="6840638"/>
        </p:xfrm>
        <a:graphic>
          <a:graphicData uri="http://schemas.openxmlformats.org/drawingml/2006/table">
            <a:tbl>
              <a:tblPr firstRow="1" bandRow="1">
                <a:tableStyleId>{5C22544A-7EE6-4342-B048-85BDC9FD1C3A}</a:tableStyleId>
              </a:tblPr>
              <a:tblGrid>
                <a:gridCol w="1098411">
                  <a:extLst>
                    <a:ext uri="{9D8B030D-6E8A-4147-A177-3AD203B41FA5}">
                      <a16:colId xmlns:a16="http://schemas.microsoft.com/office/drawing/2014/main" val="664617277"/>
                    </a:ext>
                  </a:extLst>
                </a:gridCol>
                <a:gridCol w="1687146">
                  <a:extLst>
                    <a:ext uri="{9D8B030D-6E8A-4147-A177-3AD203B41FA5}">
                      <a16:colId xmlns:a16="http://schemas.microsoft.com/office/drawing/2014/main" val="2977989484"/>
                    </a:ext>
                  </a:extLst>
                </a:gridCol>
                <a:gridCol w="2050129">
                  <a:extLst>
                    <a:ext uri="{9D8B030D-6E8A-4147-A177-3AD203B41FA5}">
                      <a16:colId xmlns:a16="http://schemas.microsoft.com/office/drawing/2014/main" val="1562249969"/>
                    </a:ext>
                  </a:extLst>
                </a:gridCol>
                <a:gridCol w="2653093">
                  <a:extLst>
                    <a:ext uri="{9D8B030D-6E8A-4147-A177-3AD203B41FA5}">
                      <a16:colId xmlns:a16="http://schemas.microsoft.com/office/drawing/2014/main" val="2275709447"/>
                    </a:ext>
                  </a:extLst>
                </a:gridCol>
                <a:gridCol w="2351611">
                  <a:extLst>
                    <a:ext uri="{9D8B030D-6E8A-4147-A177-3AD203B41FA5}">
                      <a16:colId xmlns:a16="http://schemas.microsoft.com/office/drawing/2014/main" val="2617503133"/>
                    </a:ext>
                  </a:extLst>
                </a:gridCol>
                <a:gridCol w="2351611">
                  <a:extLst>
                    <a:ext uri="{9D8B030D-6E8A-4147-A177-3AD203B41FA5}">
                      <a16:colId xmlns:a16="http://schemas.microsoft.com/office/drawing/2014/main" val="4107879536"/>
                    </a:ext>
                  </a:extLst>
                </a:gridCol>
              </a:tblGrid>
              <a:tr h="824530">
                <a:tc>
                  <a:txBody>
                    <a:bodyPr/>
                    <a:lstStyle/>
                    <a:p>
                      <a:pPr marL="0"/>
                      <a:r>
                        <a:rPr lang="en-US" sz="2000"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tc>
                <a:tc>
                  <a:txBody>
                    <a:bodyPr/>
                    <a:lstStyle/>
                    <a:p>
                      <a:pPr marL="0"/>
                      <a:r>
                        <a:rPr lang="en-US" sz="2000" dirty="0">
                          <a:latin typeface="Times New Roman" panose="02020603050405020304" pitchFamily="18" charset="0"/>
                          <a:cs typeface="Times New Roman" panose="02020603050405020304" pitchFamily="18" charset="0"/>
                        </a:rPr>
                        <a:t>Year</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Author Name</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Title</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Summary</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24803931"/>
                  </a:ext>
                </a:extLst>
              </a:tr>
              <a:tr h="2381657">
                <a:tc>
                  <a:txBody>
                    <a:bodyPr/>
                    <a:lstStyle/>
                    <a:p>
                      <a:pPr marL="0"/>
                      <a:r>
                        <a:rPr lang="en-US" sz="2000" dirty="0"/>
                        <a:t>4</a:t>
                      </a:r>
                      <a:endParaRPr lang="en-IN" sz="2000" dirty="0">
                        <a:latin typeface="Times New Roman" panose="02020603050405020304" pitchFamily="18" charset="0"/>
                        <a:cs typeface="Times New Roman" panose="02020603050405020304" pitchFamily="18" charset="0"/>
                      </a:endParaRPr>
                    </a:p>
                  </a:txBody>
                  <a:tcPr/>
                </a:tc>
                <a:tc>
                  <a:txBody>
                    <a:bodyPr/>
                    <a:lstStyle/>
                    <a:p>
                      <a:pPr marL="0"/>
                      <a:r>
                        <a:rPr lang="en-IN" sz="2000" dirty="0"/>
                        <a:t>2025</a:t>
                      </a:r>
                    </a:p>
                    <a:p>
                      <a:pPr marL="0"/>
                      <a:r>
                        <a:rPr lang="en-IN" sz="2000" dirty="0"/>
                        <a:t>(Jan)</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2000" dirty="0"/>
                        <a:t>M.T.R. Rafi et al.</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Enhancing Cybersecurity: Comparative Insights in Machine Learning for Ransomware Detection</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t>The study shows ML methods outperform traditional approaches</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Requires high computational resources and large datasets</a:t>
                      </a:r>
                      <a:endParaRPr lang="en-IN"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8825181"/>
                  </a:ext>
                </a:extLst>
              </a:tr>
              <a:tr h="3634451">
                <a:tc>
                  <a:txBody>
                    <a:bodyPr/>
                    <a:lstStyle/>
                    <a:p>
                      <a:pPr marL="0"/>
                      <a:r>
                        <a:rPr lang="en-US" sz="2000" dirty="0"/>
                        <a:t>5</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t>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t>(Feb)</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2000" dirty="0"/>
                        <a:t>J. Lee et al.</a:t>
                      </a:r>
                      <a:endParaRPr lang="en-IN"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Machine Learning-Based Ransomware Detection Using File Entropy Analysis</a:t>
                      </a:r>
                      <a:endParaRPr lang="en-IN"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paper proposes an entropy-based ransomware detection approach.</a:t>
                      </a:r>
                      <a:endParaRPr lang="en-IN"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Advanced attackers can evade entropy-based detection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3370958"/>
                  </a:ext>
                </a:extLst>
              </a:tr>
            </a:tbl>
          </a:graphicData>
        </a:graphic>
      </p:graphicFrame>
    </p:spTree>
    <p:extLst>
      <p:ext uri="{BB962C8B-B14F-4D97-AF65-F5344CB8AC3E}">
        <p14:creationId xmlns:p14="http://schemas.microsoft.com/office/powerpoint/2010/main" val="3688227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350D3-8EAA-A85F-7335-5B152B9624E3}"/>
              </a:ext>
            </a:extLst>
          </p:cNvPr>
          <p:cNvSpPr>
            <a:spLocks noGrp="1"/>
          </p:cNvSpPr>
          <p:nvPr>
            <p:ph type="title"/>
          </p:nvPr>
        </p:nvSpPr>
        <p:spPr/>
        <p:txBody>
          <a:bodyPr>
            <a:normAutofit/>
          </a:bodyPr>
          <a:lstStyle/>
          <a:p>
            <a:pPr algn="ctr"/>
            <a:r>
              <a:rPr lang="en-IN" sz="3200" b="1" dirty="0">
                <a:solidFill>
                  <a:schemeClr val="accent1">
                    <a:lumMod val="50000"/>
                  </a:schemeClr>
                </a:solidFill>
                <a:latin typeface="Algerian" panose="04020705040A02060702" pitchFamily="82" charset="0"/>
              </a:rPr>
              <a:t>PROBLEM</a:t>
            </a:r>
            <a:r>
              <a:rPr lang="en-IN" sz="3200" b="1" dirty="0">
                <a:solidFill>
                  <a:schemeClr val="accent6"/>
                </a:solidFill>
                <a:latin typeface="Algerian" panose="04020705040A02060702" pitchFamily="82" charset="0"/>
              </a:rPr>
              <a:t> </a:t>
            </a:r>
            <a:r>
              <a:rPr lang="en-IN" sz="3200" b="1" dirty="0">
                <a:solidFill>
                  <a:schemeClr val="accent1">
                    <a:lumMod val="50000"/>
                  </a:schemeClr>
                </a:solidFill>
                <a:latin typeface="Algerian" panose="04020705040A02060702" pitchFamily="82" charset="0"/>
              </a:rPr>
              <a:t>STATEMENT</a:t>
            </a:r>
          </a:p>
        </p:txBody>
      </p:sp>
      <p:sp>
        <p:nvSpPr>
          <p:cNvPr id="3" name="Content Placeholder 2">
            <a:extLst>
              <a:ext uri="{FF2B5EF4-FFF2-40B4-BE49-F238E27FC236}">
                <a16:creationId xmlns:a16="http://schemas.microsoft.com/office/drawing/2014/main" id="{70EF6BF5-6004-FE98-8966-EF1E446E5B79}"/>
              </a:ext>
            </a:extLst>
          </p:cNvPr>
          <p:cNvSpPr>
            <a:spLocks noGrp="1"/>
          </p:cNvSpPr>
          <p:nvPr>
            <p:ph idx="1"/>
          </p:nvPr>
        </p:nvSpPr>
        <p:spPr>
          <a:xfrm>
            <a:off x="838200" y="1769806"/>
            <a:ext cx="10515600" cy="4407157"/>
          </a:xfrm>
        </p:spPr>
        <p:txBody>
          <a:bodyPr>
            <a:normAutofit/>
          </a:bodyPr>
          <a:lstStyle/>
          <a:p>
            <a:pPr lvl="0" algn="just"/>
            <a:r>
              <a:rPr lang="en-IN" sz="2400" dirty="0">
                <a:latin typeface="Times New Roman" panose="02020603050405020304" pitchFamily="18" charset="0"/>
                <a:cs typeface="Times New Roman" panose="02020603050405020304" pitchFamily="18" charset="0"/>
              </a:rPr>
              <a:t>Signature-based antivirus systems may fail to detect new or unknown ransomware variants.</a:t>
            </a:r>
          </a:p>
          <a:p>
            <a:pPr lvl="0" algn="just"/>
            <a:r>
              <a:rPr lang="en-IN" sz="2400" dirty="0">
                <a:latin typeface="Times New Roman" panose="02020603050405020304" pitchFamily="18" charset="0"/>
                <a:cs typeface="Times New Roman" panose="02020603050405020304" pitchFamily="18" charset="0"/>
              </a:rPr>
              <a:t>This project uses machine learning to analyse Windows executable PE-header features.</a:t>
            </a:r>
          </a:p>
          <a:p>
            <a:pPr lvl="0" algn="just"/>
            <a:r>
              <a:rPr lang="en-IN" sz="2400" dirty="0">
                <a:latin typeface="Times New Roman" panose="02020603050405020304" pitchFamily="18" charset="0"/>
                <a:cs typeface="Times New Roman" panose="02020603050405020304" pitchFamily="18" charset="0"/>
              </a:rPr>
              <a:t>The system classifies files as “Ransomware” or “Benign” and provides immediate alerts and detection history.</a:t>
            </a:r>
          </a:p>
          <a:p>
            <a:pPr marL="0" indent="0" algn="just">
              <a:buNone/>
            </a:pPr>
            <a:br>
              <a:rPr lang="en-IN"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D522D4D-FBD8-EFAA-7552-46FB05ACD6AC}"/>
              </a:ext>
            </a:extLst>
          </p:cNvPr>
          <p:cNvSpPr>
            <a:spLocks noGrp="1"/>
          </p:cNvSpPr>
          <p:nvPr>
            <p:ph type="sldNum" sz="quarter" idx="12"/>
          </p:nvPr>
        </p:nvSpPr>
        <p:spPr/>
        <p:txBody>
          <a:bodyPr/>
          <a:lstStyle/>
          <a:p>
            <a:fld id="{9B618960-8005-486C-9A75-10CB2AAC16F9}" type="slidenum">
              <a:rPr lang="en-US" smtClean="0"/>
              <a:t>7</a:t>
            </a:fld>
            <a:endParaRPr lang="en-US"/>
          </a:p>
        </p:txBody>
      </p:sp>
      <p:sp>
        <p:nvSpPr>
          <p:cNvPr id="4" name="Footer Placeholder 3">
            <a:extLst>
              <a:ext uri="{FF2B5EF4-FFF2-40B4-BE49-F238E27FC236}">
                <a16:creationId xmlns:a16="http://schemas.microsoft.com/office/drawing/2014/main" id="{E26089AA-7F57-20C9-81A8-89B18DE4AF3C}"/>
              </a:ext>
            </a:extLst>
          </p:cNvPr>
          <p:cNvSpPr>
            <a:spLocks noGrp="1"/>
          </p:cNvSpPr>
          <p:nvPr>
            <p:ph type="ftr" sz="quarter" idx="11"/>
          </p:nvPr>
        </p:nvSpPr>
        <p:spPr/>
        <p:txBody>
          <a:bodyPr/>
          <a:lstStyle/>
          <a:p>
            <a:r>
              <a:rPr lang="en-US"/>
              <a:t>Dept Of CSE,EWCE</a:t>
            </a:r>
          </a:p>
        </p:txBody>
      </p:sp>
    </p:spTree>
    <p:extLst>
      <p:ext uri="{BB962C8B-B14F-4D97-AF65-F5344CB8AC3E}">
        <p14:creationId xmlns:p14="http://schemas.microsoft.com/office/powerpoint/2010/main" val="987609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2D377-8B2E-3D5C-02B7-1A8423AA9837}"/>
              </a:ext>
            </a:extLst>
          </p:cNvPr>
          <p:cNvSpPr>
            <a:spLocks noGrp="1"/>
          </p:cNvSpPr>
          <p:nvPr>
            <p:ph type="title"/>
          </p:nvPr>
        </p:nvSpPr>
        <p:spPr>
          <a:xfrm>
            <a:off x="838200" y="-91439"/>
            <a:ext cx="10515600" cy="1239519"/>
          </a:xfrm>
        </p:spPr>
        <p:txBody>
          <a:bodyPr>
            <a:normAutofit/>
          </a:bodyPr>
          <a:lstStyle/>
          <a:p>
            <a:pPr algn="ctr"/>
            <a:r>
              <a:rPr lang="en-IN" sz="3200" b="1" dirty="0">
                <a:solidFill>
                  <a:schemeClr val="accent1">
                    <a:lumMod val="50000"/>
                  </a:schemeClr>
                </a:solidFill>
                <a:latin typeface="Algerian" panose="04020705040A02060702" pitchFamily="82" charset="0"/>
              </a:rPr>
              <a:t>OBJECTIVES</a:t>
            </a:r>
            <a:r>
              <a:rPr lang="en-IN" sz="3200" b="1" dirty="0">
                <a:solidFill>
                  <a:schemeClr val="accent6"/>
                </a:solidFill>
                <a:latin typeface="Algerian" panose="04020705040A02060702" pitchFamily="82" charset="0"/>
              </a:rPr>
              <a:t> </a:t>
            </a:r>
            <a:r>
              <a:rPr lang="en-IN" sz="3200" b="1" dirty="0">
                <a:solidFill>
                  <a:schemeClr val="accent1">
                    <a:lumMod val="50000"/>
                  </a:schemeClr>
                </a:solidFill>
                <a:latin typeface="Algerian" panose="04020705040A02060702" pitchFamily="82" charset="0"/>
              </a:rPr>
              <a:t>AND</a:t>
            </a:r>
            <a:r>
              <a:rPr lang="en-IN" sz="3200" b="1" dirty="0">
                <a:solidFill>
                  <a:schemeClr val="accent6"/>
                </a:solidFill>
                <a:latin typeface="Algerian" panose="04020705040A02060702" pitchFamily="82" charset="0"/>
              </a:rPr>
              <a:t> </a:t>
            </a:r>
            <a:r>
              <a:rPr lang="en-IN" sz="3200" b="1" dirty="0">
                <a:solidFill>
                  <a:schemeClr val="accent1">
                    <a:lumMod val="50000"/>
                  </a:schemeClr>
                </a:solidFill>
                <a:latin typeface="Algerian" panose="04020705040A02060702" pitchFamily="82" charset="0"/>
              </a:rPr>
              <a:t>SCOPE</a:t>
            </a:r>
          </a:p>
        </p:txBody>
      </p:sp>
      <p:sp>
        <p:nvSpPr>
          <p:cNvPr id="3" name="Content Placeholder 2">
            <a:extLst>
              <a:ext uri="{FF2B5EF4-FFF2-40B4-BE49-F238E27FC236}">
                <a16:creationId xmlns:a16="http://schemas.microsoft.com/office/drawing/2014/main" id="{A4638BBF-2A57-997F-6A6B-AB9D8BF5F4F4}"/>
              </a:ext>
            </a:extLst>
          </p:cNvPr>
          <p:cNvSpPr>
            <a:spLocks noGrp="1"/>
          </p:cNvSpPr>
          <p:nvPr>
            <p:ph idx="1"/>
          </p:nvPr>
        </p:nvSpPr>
        <p:spPr>
          <a:xfrm>
            <a:off x="629920" y="995680"/>
            <a:ext cx="10723880" cy="5725795"/>
          </a:xfrm>
        </p:spPr>
        <p:txBody>
          <a:bodyPr>
            <a:normAutofit/>
          </a:bodyPr>
          <a:lstStyle/>
          <a:p>
            <a:pPr marL="0" indent="0" algn="just">
              <a:lnSpc>
                <a:spcPct val="100000"/>
              </a:lnSpc>
              <a:buNone/>
            </a:pPr>
            <a:r>
              <a:rPr lang="en-US" sz="2400" b="1" dirty="0">
                <a:latin typeface="Times New Roman" panose="02020603050405020304" pitchFamily="18" charset="0"/>
                <a:cs typeface="Times New Roman" panose="02020603050405020304" pitchFamily="18" charset="0"/>
              </a:rPr>
              <a:t>OBJECTIVE:</a:t>
            </a:r>
            <a:endParaRPr lang="en-US" sz="2600" dirty="0">
              <a:latin typeface="Times New Roman" panose="02020603050405020304" pitchFamily="18" charset="0"/>
              <a:cs typeface="Times New Roman" panose="02020603050405020304" pitchFamily="18" charset="0"/>
            </a:endParaRPr>
          </a:p>
          <a:p>
            <a:pPr lvl="0" algn="just"/>
            <a:r>
              <a:rPr lang="en-IN" sz="2400" dirty="0">
                <a:latin typeface="Times New Roman" panose="02020603050405020304" pitchFamily="18" charset="0"/>
                <a:cs typeface="Times New Roman" panose="02020603050405020304" pitchFamily="18" charset="0"/>
              </a:rPr>
              <a:t>The project detects ransomware in Windows executable files.</a:t>
            </a:r>
          </a:p>
          <a:p>
            <a:pPr lvl="0" algn="just"/>
            <a:r>
              <a:rPr lang="en-IN" sz="2400" dirty="0">
                <a:latin typeface="Times New Roman" panose="02020603050405020304" pitchFamily="18" charset="0"/>
                <a:cs typeface="Times New Roman" panose="02020603050405020304" pitchFamily="18" charset="0"/>
              </a:rPr>
              <a:t>It analyses PE-header features using machine learning.</a:t>
            </a:r>
          </a:p>
          <a:p>
            <a:pPr lvl="0" algn="just"/>
            <a:r>
              <a:rPr lang="en-IN" sz="2400" dirty="0">
                <a:latin typeface="Times New Roman" panose="02020603050405020304" pitchFamily="18" charset="0"/>
                <a:cs typeface="Times New Roman" panose="02020603050405020304" pitchFamily="18" charset="0"/>
              </a:rPr>
              <a:t>It classifies files as </a:t>
            </a:r>
            <a:r>
              <a:rPr lang="en-IN" sz="2400" b="1" dirty="0">
                <a:latin typeface="Times New Roman" panose="02020603050405020304" pitchFamily="18" charset="0"/>
                <a:cs typeface="Times New Roman" panose="02020603050405020304" pitchFamily="18" charset="0"/>
              </a:rPr>
              <a:t>Ransomware</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Benign</a:t>
            </a:r>
            <a:r>
              <a:rPr lang="en-IN" sz="2400" dirty="0">
                <a:latin typeface="Times New Roman" panose="02020603050405020304" pitchFamily="18" charset="0"/>
                <a:cs typeface="Times New Roman" panose="02020603050405020304" pitchFamily="18" charset="0"/>
              </a:rPr>
              <a:t>.</a:t>
            </a:r>
          </a:p>
          <a:p>
            <a:pPr lvl="0" algn="just"/>
            <a:r>
              <a:rPr lang="en-IN" sz="2400" dirty="0">
                <a:latin typeface="Times New Roman" panose="02020603050405020304" pitchFamily="18" charset="0"/>
                <a:cs typeface="Times New Roman" panose="02020603050405020304" pitchFamily="18" charset="0"/>
              </a:rPr>
              <a:t>It provides instant threat alerts to users.</a:t>
            </a:r>
          </a:p>
          <a:p>
            <a:pPr algn="just"/>
            <a:endParaRPr lang="en-US" sz="24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sz="2400" b="1" dirty="0">
                <a:latin typeface="Times New Roman" panose="02020603050405020304" pitchFamily="18" charset="0"/>
                <a:cs typeface="Times New Roman" panose="02020603050405020304" pitchFamily="18" charset="0"/>
              </a:rPr>
              <a:t>SCOPE:</a:t>
            </a:r>
          </a:p>
          <a:p>
            <a:pPr lvl="0" algn="just"/>
            <a:r>
              <a:rPr lang="en-IN" sz="2400" dirty="0">
                <a:latin typeface="Times New Roman" panose="02020603050405020304" pitchFamily="18" charset="0"/>
                <a:cs typeface="Times New Roman" panose="02020603050405020304" pitchFamily="18" charset="0"/>
              </a:rPr>
              <a:t>The project includes a React-based web dashboard.</a:t>
            </a:r>
          </a:p>
          <a:p>
            <a:pPr lvl="0" algn="just"/>
            <a:r>
              <a:rPr lang="en-IN" sz="2400" dirty="0">
                <a:latin typeface="Times New Roman" panose="02020603050405020304" pitchFamily="18" charset="0"/>
                <a:cs typeface="Times New Roman" panose="02020603050405020304" pitchFamily="18" charset="0"/>
              </a:rPr>
              <a:t>It uses Node.js and Python for backend processing.</a:t>
            </a:r>
          </a:p>
          <a:p>
            <a:pPr lvl="0" algn="just"/>
            <a:r>
              <a:rPr lang="en-IN" sz="2400" dirty="0">
                <a:latin typeface="Times New Roman" panose="02020603050405020304" pitchFamily="18" charset="0"/>
                <a:cs typeface="Times New Roman" panose="02020603050405020304" pitchFamily="18" charset="0"/>
              </a:rPr>
              <a:t>It uses a Random Forest model for classification.</a:t>
            </a:r>
          </a:p>
          <a:p>
            <a:pPr lvl="0" algn="just"/>
            <a:r>
              <a:rPr lang="en-IN" sz="2400" dirty="0">
                <a:latin typeface="Times New Roman" panose="02020603050405020304" pitchFamily="18" charset="0"/>
                <a:cs typeface="Times New Roman" panose="02020603050405020304" pitchFamily="18" charset="0"/>
              </a:rPr>
              <a:t>It stores scan history and displays statistics.</a:t>
            </a:r>
          </a:p>
          <a:p>
            <a:pPr marL="0" indent="0" algn="just">
              <a:lnSpc>
                <a:spcPct val="100000"/>
              </a:lnSpc>
              <a:buNone/>
            </a:pPr>
            <a:endParaRPr lang="en-US" sz="24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DC4B53E-0F83-1160-599F-0E3969F778C4}"/>
              </a:ext>
            </a:extLst>
          </p:cNvPr>
          <p:cNvSpPr>
            <a:spLocks noGrp="1"/>
          </p:cNvSpPr>
          <p:nvPr>
            <p:ph type="sldNum" sz="quarter" idx="12"/>
          </p:nvPr>
        </p:nvSpPr>
        <p:spPr/>
        <p:txBody>
          <a:bodyPr/>
          <a:lstStyle/>
          <a:p>
            <a:fld id="{9B618960-8005-486C-9A75-10CB2AAC16F9}" type="slidenum">
              <a:rPr lang="en-US" smtClean="0"/>
              <a:t>8</a:t>
            </a:fld>
            <a:endParaRPr lang="en-US" dirty="0"/>
          </a:p>
        </p:txBody>
      </p:sp>
      <p:sp>
        <p:nvSpPr>
          <p:cNvPr id="4" name="Footer Placeholder 3">
            <a:extLst>
              <a:ext uri="{FF2B5EF4-FFF2-40B4-BE49-F238E27FC236}">
                <a16:creationId xmlns:a16="http://schemas.microsoft.com/office/drawing/2014/main" id="{9EBA7E7D-3C42-6297-7C33-33D9C8CE6F50}"/>
              </a:ext>
            </a:extLst>
          </p:cNvPr>
          <p:cNvSpPr>
            <a:spLocks noGrp="1"/>
          </p:cNvSpPr>
          <p:nvPr>
            <p:ph type="ftr" sz="quarter" idx="11"/>
          </p:nvPr>
        </p:nvSpPr>
        <p:spPr/>
        <p:txBody>
          <a:bodyPr/>
          <a:lstStyle/>
          <a:p>
            <a:r>
              <a:rPr lang="en-US"/>
              <a:t>Dept Of CSE,EWCE</a:t>
            </a:r>
          </a:p>
        </p:txBody>
      </p:sp>
    </p:spTree>
    <p:extLst>
      <p:ext uri="{BB962C8B-B14F-4D97-AF65-F5344CB8AC3E}">
        <p14:creationId xmlns:p14="http://schemas.microsoft.com/office/powerpoint/2010/main" val="132844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420F2-62AA-1A91-4850-8BA6CD4F4FF2}"/>
              </a:ext>
            </a:extLst>
          </p:cNvPr>
          <p:cNvSpPr>
            <a:spLocks noGrp="1"/>
          </p:cNvSpPr>
          <p:nvPr>
            <p:ph type="title"/>
          </p:nvPr>
        </p:nvSpPr>
        <p:spPr/>
        <p:txBody>
          <a:bodyPr>
            <a:normAutofit/>
          </a:bodyPr>
          <a:lstStyle/>
          <a:p>
            <a:pPr algn="ctr"/>
            <a:r>
              <a:rPr lang="en-IN" sz="3200" b="1" dirty="0">
                <a:solidFill>
                  <a:schemeClr val="accent1">
                    <a:lumMod val="50000"/>
                  </a:schemeClr>
                </a:solidFill>
                <a:latin typeface="Algerian" panose="04020705040A02060702" pitchFamily="82" charset="0"/>
              </a:rPr>
              <a:t>REQUIREMENTS</a:t>
            </a:r>
          </a:p>
        </p:txBody>
      </p:sp>
      <p:sp>
        <p:nvSpPr>
          <p:cNvPr id="3" name="Content Placeholder 2">
            <a:extLst>
              <a:ext uri="{FF2B5EF4-FFF2-40B4-BE49-F238E27FC236}">
                <a16:creationId xmlns:a16="http://schemas.microsoft.com/office/drawing/2014/main" id="{7C0E64D0-725F-195E-D091-3E5A304E6CF8}"/>
              </a:ext>
            </a:extLst>
          </p:cNvPr>
          <p:cNvSpPr>
            <a:spLocks noGrp="1"/>
          </p:cNvSpPr>
          <p:nvPr>
            <p:ph sz="half" idx="1"/>
          </p:nvPr>
        </p:nvSpPr>
        <p:spPr/>
        <p:txBody>
          <a:bodyPr>
            <a:normAutofit lnSpcReduction="10000"/>
          </a:bodyPr>
          <a:lstStyle/>
          <a:p>
            <a:pPr>
              <a:buFont typeface="Wingdings" panose="05000000000000000000" pitchFamily="2" charset="2"/>
              <a:buChar char="Ø"/>
            </a:pPr>
            <a:r>
              <a:rPr lang="en-IN" b="1" dirty="0"/>
              <a:t>Hardware Requirements</a:t>
            </a:r>
            <a:r>
              <a:rPr lang="en-IN" sz="2400" b="1" dirty="0"/>
              <a:t>:</a:t>
            </a:r>
          </a:p>
          <a:p>
            <a:pPr>
              <a:lnSpc>
                <a:spcPct val="150000"/>
              </a:lnSpc>
            </a:pPr>
            <a:r>
              <a:rPr lang="en-IN" sz="2400" dirty="0">
                <a:latin typeface="Times New Roman" panose="02020603050405020304" pitchFamily="18" charset="0"/>
                <a:cs typeface="Times New Roman" panose="02020603050405020304" pitchFamily="18" charset="0"/>
              </a:rPr>
              <a:t>System Type      :64-bit Computer</a:t>
            </a:r>
          </a:p>
          <a:p>
            <a:pPr>
              <a:lnSpc>
                <a:spcPct val="150000"/>
              </a:lnSpc>
            </a:pPr>
            <a:r>
              <a:rPr lang="en-IN" sz="2400" dirty="0">
                <a:latin typeface="Times New Roman" panose="02020603050405020304" pitchFamily="18" charset="0"/>
                <a:cs typeface="Times New Roman" panose="02020603050405020304" pitchFamily="18" charset="0"/>
              </a:rPr>
              <a:t>Hard Disk          :Minimum 500GB</a:t>
            </a:r>
          </a:p>
          <a:p>
            <a:pPr>
              <a:lnSpc>
                <a:spcPct val="150000"/>
              </a:lnSpc>
            </a:pPr>
            <a:r>
              <a:rPr lang="en-IN" sz="2400" dirty="0">
                <a:latin typeface="Times New Roman" panose="02020603050405020304" pitchFamily="18" charset="0"/>
                <a:cs typeface="Times New Roman" panose="02020603050405020304" pitchFamily="18" charset="0"/>
              </a:rPr>
              <a:t>RAM                 :Minimum 4 GB</a:t>
            </a:r>
          </a:p>
          <a:p>
            <a:pPr>
              <a:lnSpc>
                <a:spcPct val="150000"/>
              </a:lnSpc>
            </a:pPr>
            <a:r>
              <a:rPr lang="en-IN" sz="2400" dirty="0">
                <a:latin typeface="Times New Roman" panose="02020603050405020304" pitchFamily="18" charset="0"/>
                <a:cs typeface="Times New Roman" panose="02020603050405020304" pitchFamily="18" charset="0"/>
              </a:rPr>
              <a:t>Intel i3 Processor,4GB RAM,500GB</a:t>
            </a:r>
          </a:p>
          <a:p>
            <a:pPr marL="0" indent="0">
              <a:lnSpc>
                <a:spcPct val="150000"/>
              </a:lnSpc>
              <a:buNone/>
            </a:pPr>
            <a:r>
              <a:rPr lang="en-IN" sz="2400" dirty="0">
                <a:latin typeface="Times New Roman" panose="02020603050405020304" pitchFamily="18" charset="0"/>
                <a:cs typeface="Times New Roman" panose="02020603050405020304" pitchFamily="18" charset="0"/>
              </a:rPr>
              <a:t>   Scikit-learn,Numpy,Pandas,ML Alg.</a:t>
            </a:r>
          </a:p>
          <a:p>
            <a:pPr marL="0" indent="0">
              <a:lnSpc>
                <a:spcPct val="150000"/>
              </a:lnSpc>
              <a:buNone/>
            </a:pPr>
            <a:r>
              <a:rPr lang="en-IN" sz="2400" dirty="0">
                <a:latin typeface="Times New Roman" panose="02020603050405020304" pitchFamily="18" charset="0"/>
                <a:cs typeface="Times New Roman" panose="02020603050405020304" pitchFamily="18" charset="0"/>
              </a:rPr>
              <a:t>   </a:t>
            </a:r>
          </a:p>
        </p:txBody>
      </p:sp>
      <p:sp>
        <p:nvSpPr>
          <p:cNvPr id="4" name="Content Placeholder 3">
            <a:extLst>
              <a:ext uri="{FF2B5EF4-FFF2-40B4-BE49-F238E27FC236}">
                <a16:creationId xmlns:a16="http://schemas.microsoft.com/office/drawing/2014/main" id="{B499ABFB-51D7-7193-1A96-A7EBE3C7922B}"/>
              </a:ext>
            </a:extLst>
          </p:cNvPr>
          <p:cNvSpPr>
            <a:spLocks noGrp="1"/>
          </p:cNvSpPr>
          <p:nvPr>
            <p:ph sz="half" idx="2"/>
          </p:nvPr>
        </p:nvSpPr>
        <p:spPr/>
        <p:txBody>
          <a:bodyPr>
            <a:normAutofit lnSpcReduction="10000"/>
          </a:bodyPr>
          <a:lstStyle/>
          <a:p>
            <a:pPr>
              <a:buFont typeface="Wingdings" panose="05000000000000000000" pitchFamily="2" charset="2"/>
              <a:buChar char="Ø"/>
            </a:pPr>
            <a:r>
              <a:rPr lang="en-IN" b="1" dirty="0"/>
              <a:t>Software Requirements:</a:t>
            </a:r>
          </a:p>
          <a:p>
            <a:pPr>
              <a:lnSpc>
                <a:spcPct val="160000"/>
              </a:lnSpc>
            </a:pPr>
            <a:r>
              <a:rPr lang="en-IN" sz="2400" dirty="0"/>
              <a:t>Operating system :Windows 10/Linux</a:t>
            </a:r>
          </a:p>
          <a:p>
            <a:pPr>
              <a:lnSpc>
                <a:spcPct val="160000"/>
              </a:lnSpc>
            </a:pPr>
            <a:r>
              <a:rPr lang="en-IN" sz="2400" dirty="0"/>
              <a:t>Coding Language  :Python</a:t>
            </a:r>
          </a:p>
          <a:p>
            <a:pPr>
              <a:lnSpc>
                <a:spcPct val="160000"/>
              </a:lnSpc>
            </a:pPr>
            <a:r>
              <a:rPr lang="en-IN" sz="2400" dirty="0"/>
              <a:t>Tools                       :VS Code ,PyCharm</a:t>
            </a:r>
          </a:p>
          <a:p>
            <a:pPr marL="0" indent="0">
              <a:buNone/>
            </a:pPr>
            <a:endParaRPr lang="en-IN" sz="2200" dirty="0"/>
          </a:p>
        </p:txBody>
      </p:sp>
      <p:sp>
        <p:nvSpPr>
          <p:cNvPr id="6" name="Slide Number Placeholder 5">
            <a:extLst>
              <a:ext uri="{FF2B5EF4-FFF2-40B4-BE49-F238E27FC236}">
                <a16:creationId xmlns:a16="http://schemas.microsoft.com/office/drawing/2014/main" id="{B0C1B8FE-06BB-412F-B2E6-D5CDABCEA43A}"/>
              </a:ext>
            </a:extLst>
          </p:cNvPr>
          <p:cNvSpPr>
            <a:spLocks noGrp="1"/>
          </p:cNvSpPr>
          <p:nvPr>
            <p:ph type="sldNum" sz="quarter" idx="12"/>
          </p:nvPr>
        </p:nvSpPr>
        <p:spPr/>
        <p:txBody>
          <a:bodyPr/>
          <a:lstStyle/>
          <a:p>
            <a:fld id="{9B618960-8005-486C-9A75-10CB2AAC16F9}" type="slidenum">
              <a:rPr lang="en-US" smtClean="0"/>
              <a:t>9</a:t>
            </a:fld>
            <a:endParaRPr lang="en-US"/>
          </a:p>
        </p:txBody>
      </p:sp>
      <p:sp>
        <p:nvSpPr>
          <p:cNvPr id="5" name="Footer Placeholder 4">
            <a:extLst>
              <a:ext uri="{FF2B5EF4-FFF2-40B4-BE49-F238E27FC236}">
                <a16:creationId xmlns:a16="http://schemas.microsoft.com/office/drawing/2014/main" id="{9A3BCEC0-98D3-F4E4-A7B5-04486DF1CBCE}"/>
              </a:ext>
            </a:extLst>
          </p:cNvPr>
          <p:cNvSpPr>
            <a:spLocks noGrp="1"/>
          </p:cNvSpPr>
          <p:nvPr>
            <p:ph type="ftr" sz="quarter" idx="11"/>
          </p:nvPr>
        </p:nvSpPr>
        <p:spPr/>
        <p:txBody>
          <a:bodyPr/>
          <a:lstStyle/>
          <a:p>
            <a:r>
              <a:rPr lang="en-US"/>
              <a:t>Dept Of CSE,EWCE</a:t>
            </a:r>
          </a:p>
        </p:txBody>
      </p:sp>
    </p:spTree>
    <p:extLst>
      <p:ext uri="{BB962C8B-B14F-4D97-AF65-F5344CB8AC3E}">
        <p14:creationId xmlns:p14="http://schemas.microsoft.com/office/powerpoint/2010/main" val="641644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6C15-5DA9-2AAA-135C-5B04EB7673DD}"/>
              </a:ext>
            </a:extLst>
          </p:cNvPr>
          <p:cNvSpPr>
            <a:spLocks noGrp="1"/>
          </p:cNvSpPr>
          <p:nvPr>
            <p:ph type="title"/>
          </p:nvPr>
        </p:nvSpPr>
        <p:spPr>
          <a:xfrm>
            <a:off x="838200" y="1"/>
            <a:ext cx="10515600" cy="855406"/>
          </a:xfrm>
        </p:spPr>
        <p:txBody>
          <a:bodyPr>
            <a:normAutofit/>
          </a:bodyPr>
          <a:lstStyle/>
          <a:p>
            <a:pPr algn="ctr"/>
            <a:r>
              <a:rPr lang="en-US" sz="3200" b="1" dirty="0">
                <a:solidFill>
                  <a:schemeClr val="accent1">
                    <a:lumMod val="50000"/>
                  </a:schemeClr>
                </a:solidFill>
                <a:latin typeface="Algerian" panose="04020705040A02060702" pitchFamily="82" charset="0"/>
              </a:rPr>
              <a:t>METHODOLOGY</a:t>
            </a:r>
            <a:endParaRPr lang="en-IN" sz="3200" b="1" dirty="0">
              <a:solidFill>
                <a:schemeClr val="accent1">
                  <a:lumMod val="50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AC91F49E-AE82-5A46-1180-CE35FF09C2A4}"/>
              </a:ext>
            </a:extLst>
          </p:cNvPr>
          <p:cNvSpPr>
            <a:spLocks noGrp="1"/>
          </p:cNvSpPr>
          <p:nvPr>
            <p:ph idx="1"/>
          </p:nvPr>
        </p:nvSpPr>
        <p:spPr>
          <a:xfrm>
            <a:off x="117987" y="688258"/>
            <a:ext cx="11995355" cy="6033217"/>
          </a:xfrm>
        </p:spPr>
        <p:txBody>
          <a:bodyPr>
            <a:normAutofit fontScale="92500"/>
          </a:bodyPr>
          <a:lstStyle/>
          <a:p>
            <a:pPr algn="just">
              <a:lnSpc>
                <a:spcPct val="150000"/>
              </a:lnSpc>
            </a:pPr>
            <a:r>
              <a:rPr lang="en-US" sz="2400" b="1" dirty="0">
                <a:latin typeface="Times New Roman" panose="02020603050405020304" pitchFamily="18" charset="0"/>
                <a:cs typeface="Times New Roman" panose="02020603050405020304" pitchFamily="18" charset="0"/>
              </a:rPr>
              <a:t>Data</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Collection: </a:t>
            </a:r>
            <a:r>
              <a:rPr lang="en-US" sz="2400" dirty="0">
                <a:latin typeface="Times New Roman" panose="02020603050405020304" pitchFamily="18" charset="0"/>
                <a:cs typeface="Times New Roman" panose="02020603050405020304" pitchFamily="18" charset="0"/>
              </a:rPr>
              <a:t>Collect system data for both normal and ransomware activities.</a:t>
            </a:r>
          </a:p>
          <a:p>
            <a:pPr algn="just">
              <a:lnSpc>
                <a:spcPct val="150000"/>
              </a:lnSpc>
            </a:pPr>
            <a:r>
              <a:rPr lang="en-US" sz="2400" b="1" dirty="0">
                <a:latin typeface="Times New Roman" panose="02020603050405020304" pitchFamily="18" charset="0"/>
                <a:cs typeface="Times New Roman" panose="02020603050405020304" pitchFamily="18" charset="0"/>
              </a:rPr>
              <a:t>Data Preprocessing</a:t>
            </a:r>
            <a:r>
              <a:rPr lang="en-US" sz="2400" dirty="0">
                <a:latin typeface="Times New Roman" panose="02020603050405020304" pitchFamily="18" charset="0"/>
                <a:cs typeface="Times New Roman" panose="02020603050405020304" pitchFamily="18" charset="0"/>
              </a:rPr>
              <a:t>: Clean and prepare the data by removing errors and normalizing values.</a:t>
            </a:r>
          </a:p>
          <a:p>
            <a:pPr algn="just">
              <a:lnSpc>
                <a:spcPct val="150000"/>
              </a:lnSpc>
            </a:pPr>
            <a:r>
              <a:rPr lang="en-US" sz="2400" b="1" dirty="0">
                <a:latin typeface="Times New Roman" panose="02020603050405020304" pitchFamily="18" charset="0"/>
                <a:cs typeface="Times New Roman" panose="02020603050405020304" pitchFamily="18" charset="0"/>
              </a:rPr>
              <a:t>Feature Extraction: </a:t>
            </a:r>
            <a:r>
              <a:rPr lang="en-US" sz="2400" dirty="0">
                <a:latin typeface="Times New Roman" panose="02020603050405020304" pitchFamily="18" charset="0"/>
                <a:cs typeface="Times New Roman" panose="02020603050405020304" pitchFamily="18" charset="0"/>
              </a:rPr>
              <a:t>Select important features like file activity, CPU usage, and network behavior.</a:t>
            </a:r>
          </a:p>
          <a:p>
            <a:pPr algn="just">
              <a:lnSpc>
                <a:spcPct val="150000"/>
              </a:lnSpc>
            </a:pPr>
            <a:r>
              <a:rPr lang="en-US" sz="2400" b="1" dirty="0">
                <a:latin typeface="Times New Roman" panose="02020603050405020304" pitchFamily="18" charset="0"/>
                <a:cs typeface="Times New Roman" panose="02020603050405020304" pitchFamily="18" charset="0"/>
              </a:rPr>
              <a:t>Model Selection: </a:t>
            </a:r>
            <a:r>
              <a:rPr lang="en-US" sz="2400" dirty="0">
                <a:latin typeface="Times New Roman" panose="02020603050405020304" pitchFamily="18" charset="0"/>
                <a:cs typeface="Times New Roman" panose="02020603050405020304" pitchFamily="18" charset="0"/>
              </a:rPr>
              <a:t>Choose machine learning algorithms such as Decision Tree, Random Forest, and SVM.</a:t>
            </a:r>
          </a:p>
          <a:p>
            <a:pPr algn="just">
              <a:lnSpc>
                <a:spcPct val="150000"/>
              </a:lnSpc>
            </a:pPr>
            <a:r>
              <a:rPr lang="en-US" sz="2400" b="1" dirty="0">
                <a:latin typeface="Times New Roman" panose="02020603050405020304" pitchFamily="18" charset="0"/>
                <a:cs typeface="Times New Roman" panose="02020603050405020304" pitchFamily="18" charset="0"/>
              </a:rPr>
              <a:t>Model Training: </a:t>
            </a:r>
            <a:r>
              <a:rPr lang="en-US" sz="2400" dirty="0">
                <a:latin typeface="Times New Roman" panose="02020603050405020304" pitchFamily="18" charset="0"/>
                <a:cs typeface="Times New Roman" panose="02020603050405020304" pitchFamily="18" charset="0"/>
              </a:rPr>
              <a:t>Train the selected algorithms using the dataset to learn patterns.</a:t>
            </a:r>
          </a:p>
          <a:p>
            <a:pPr algn="just">
              <a:lnSpc>
                <a:spcPct val="150000"/>
              </a:lnSpc>
            </a:pPr>
            <a:r>
              <a:rPr lang="en-US" sz="2400" b="1" dirty="0">
                <a:latin typeface="Times New Roman" panose="02020603050405020304" pitchFamily="18" charset="0"/>
                <a:cs typeface="Times New Roman" panose="02020603050405020304" pitchFamily="18" charset="0"/>
              </a:rPr>
              <a:t>Model Testing: </a:t>
            </a:r>
            <a:r>
              <a:rPr lang="en-US" sz="2400" dirty="0">
                <a:latin typeface="Times New Roman" panose="02020603050405020304" pitchFamily="18" charset="0"/>
                <a:cs typeface="Times New Roman" panose="02020603050405020304" pitchFamily="18" charset="0"/>
              </a:rPr>
              <a:t>Test the trained models using new data to check their performance.</a:t>
            </a:r>
          </a:p>
          <a:p>
            <a:pPr algn="just">
              <a:lnSpc>
                <a:spcPct val="150000"/>
              </a:lnSpc>
            </a:pPr>
            <a:r>
              <a:rPr lang="en-US" sz="2400" b="1" dirty="0">
                <a:latin typeface="Times New Roman" panose="02020603050405020304" pitchFamily="18" charset="0"/>
                <a:cs typeface="Times New Roman" panose="02020603050405020304" pitchFamily="18" charset="0"/>
              </a:rPr>
              <a:t>Model Evaluation: </a:t>
            </a:r>
            <a:r>
              <a:rPr lang="en-US" sz="2400" dirty="0">
                <a:latin typeface="Times New Roman" panose="02020603050405020304" pitchFamily="18" charset="0"/>
                <a:cs typeface="Times New Roman" panose="02020603050405020304" pitchFamily="18" charset="0"/>
              </a:rPr>
              <a:t>Compare models using accuracy, precision, and recall to find the best one.</a:t>
            </a:r>
          </a:p>
          <a:p>
            <a:pPr algn="just">
              <a:lnSpc>
                <a:spcPct val="150000"/>
              </a:lnSpc>
            </a:pPr>
            <a:r>
              <a:rPr lang="en-US" sz="2400" b="1" dirty="0">
                <a:latin typeface="Times New Roman" panose="02020603050405020304" pitchFamily="18" charset="0"/>
                <a:cs typeface="Times New Roman" panose="02020603050405020304" pitchFamily="18" charset="0"/>
              </a:rPr>
              <a:t>Deployment: </a:t>
            </a:r>
            <a:r>
              <a:rPr lang="en-US" sz="2400" dirty="0">
                <a:latin typeface="Times New Roman" panose="02020603050405020304" pitchFamily="18" charset="0"/>
                <a:cs typeface="Times New Roman" panose="02020603050405020304" pitchFamily="18" charset="0"/>
              </a:rPr>
              <a:t>Use the best model to detect ransomware in real-time systems.</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6A20D33-B984-EF92-26B3-63112336C563}"/>
              </a:ext>
            </a:extLst>
          </p:cNvPr>
          <p:cNvSpPr>
            <a:spLocks noGrp="1"/>
          </p:cNvSpPr>
          <p:nvPr>
            <p:ph type="ftr" sz="quarter" idx="11"/>
          </p:nvPr>
        </p:nvSpPr>
        <p:spPr/>
        <p:txBody>
          <a:bodyPr/>
          <a:lstStyle/>
          <a:p>
            <a:r>
              <a:rPr lang="en-US"/>
              <a:t>Dept Of CSE,EWCE</a:t>
            </a:r>
          </a:p>
        </p:txBody>
      </p:sp>
      <p:sp>
        <p:nvSpPr>
          <p:cNvPr id="5" name="Slide Number Placeholder 4">
            <a:extLst>
              <a:ext uri="{FF2B5EF4-FFF2-40B4-BE49-F238E27FC236}">
                <a16:creationId xmlns:a16="http://schemas.microsoft.com/office/drawing/2014/main" id="{7767FF60-28E2-0A1F-8D8A-19AAC0AF5030}"/>
              </a:ext>
            </a:extLst>
          </p:cNvPr>
          <p:cNvSpPr>
            <a:spLocks noGrp="1"/>
          </p:cNvSpPr>
          <p:nvPr>
            <p:ph type="sldNum" sz="quarter" idx="12"/>
          </p:nvPr>
        </p:nvSpPr>
        <p:spPr/>
        <p:txBody>
          <a:bodyPr/>
          <a:lstStyle/>
          <a:p>
            <a:fld id="{9B618960-8005-486C-9A75-10CB2AAC16F9}" type="slidenum">
              <a:rPr lang="en-US" smtClean="0"/>
              <a:t>10</a:t>
            </a:fld>
            <a:endParaRPr lang="en-US"/>
          </a:p>
        </p:txBody>
      </p:sp>
    </p:spTree>
    <p:extLst>
      <p:ext uri="{BB962C8B-B14F-4D97-AF65-F5344CB8AC3E}">
        <p14:creationId xmlns:p14="http://schemas.microsoft.com/office/powerpoint/2010/main" val="1227846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066545-4636-FED7-1E85-7452643DC66A}"/>
              </a:ext>
            </a:extLst>
          </p:cNvPr>
          <p:cNvSpPr>
            <a:spLocks noGrp="1"/>
          </p:cNvSpPr>
          <p:nvPr>
            <p:ph type="ftr" sz="quarter" idx="11"/>
          </p:nvPr>
        </p:nvSpPr>
        <p:spPr/>
        <p:txBody>
          <a:bodyPr/>
          <a:lstStyle/>
          <a:p>
            <a:r>
              <a:rPr lang="en-US"/>
              <a:t>Dept Of CSE,EWCE</a:t>
            </a:r>
          </a:p>
        </p:txBody>
      </p:sp>
      <p:sp>
        <p:nvSpPr>
          <p:cNvPr id="3" name="Slide Number Placeholder 2">
            <a:extLst>
              <a:ext uri="{FF2B5EF4-FFF2-40B4-BE49-F238E27FC236}">
                <a16:creationId xmlns:a16="http://schemas.microsoft.com/office/drawing/2014/main" id="{F548337E-0A9D-9369-4CD2-AF071F4975EF}"/>
              </a:ext>
            </a:extLst>
          </p:cNvPr>
          <p:cNvSpPr>
            <a:spLocks noGrp="1"/>
          </p:cNvSpPr>
          <p:nvPr>
            <p:ph type="sldNum" sz="quarter" idx="12"/>
          </p:nvPr>
        </p:nvSpPr>
        <p:spPr/>
        <p:txBody>
          <a:bodyPr/>
          <a:lstStyle/>
          <a:p>
            <a:fld id="{9B618960-8005-486C-9A75-10CB2AAC16F9}" type="slidenum">
              <a:rPr lang="en-US" smtClean="0"/>
              <a:t>11</a:t>
            </a:fld>
            <a:endParaRPr lang="en-US"/>
          </a:p>
        </p:txBody>
      </p:sp>
      <p:pic>
        <p:nvPicPr>
          <p:cNvPr id="6" name="Picture 5">
            <a:extLst>
              <a:ext uri="{FF2B5EF4-FFF2-40B4-BE49-F238E27FC236}">
                <a16:creationId xmlns:a16="http://schemas.microsoft.com/office/drawing/2014/main" id="{D206D84C-4CB8-DFA5-EC29-44D3059746E5}"/>
              </a:ext>
            </a:extLst>
          </p:cNvPr>
          <p:cNvPicPr>
            <a:picLocks noChangeAspect="1"/>
          </p:cNvPicPr>
          <p:nvPr/>
        </p:nvPicPr>
        <p:blipFill>
          <a:blip r:embed="rId2"/>
          <a:stretch>
            <a:fillRect/>
          </a:stretch>
        </p:blipFill>
        <p:spPr>
          <a:xfrm>
            <a:off x="0" y="-1"/>
            <a:ext cx="12192000" cy="6356351"/>
          </a:xfrm>
          <a:prstGeom prst="rect">
            <a:avLst/>
          </a:prstGeom>
        </p:spPr>
      </p:pic>
    </p:spTree>
    <p:extLst>
      <p:ext uri="{BB962C8B-B14F-4D97-AF65-F5344CB8AC3E}">
        <p14:creationId xmlns:p14="http://schemas.microsoft.com/office/powerpoint/2010/main" val="1839043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AE8FF8-E371-6969-8B19-125E7FDA7C41}"/>
              </a:ext>
            </a:extLst>
          </p:cNvPr>
          <p:cNvSpPr>
            <a:spLocks noGrp="1"/>
          </p:cNvSpPr>
          <p:nvPr>
            <p:ph type="ftr" sz="quarter" idx="11"/>
          </p:nvPr>
        </p:nvSpPr>
        <p:spPr/>
        <p:txBody>
          <a:bodyPr/>
          <a:lstStyle/>
          <a:p>
            <a:r>
              <a:rPr lang="en-US"/>
              <a:t>Dept Of CSE,EWCE</a:t>
            </a:r>
          </a:p>
        </p:txBody>
      </p:sp>
      <p:sp>
        <p:nvSpPr>
          <p:cNvPr id="3" name="Slide Number Placeholder 2">
            <a:extLst>
              <a:ext uri="{FF2B5EF4-FFF2-40B4-BE49-F238E27FC236}">
                <a16:creationId xmlns:a16="http://schemas.microsoft.com/office/drawing/2014/main" id="{F92731E1-DC3D-123F-C0DA-245B79967897}"/>
              </a:ext>
            </a:extLst>
          </p:cNvPr>
          <p:cNvSpPr>
            <a:spLocks noGrp="1"/>
          </p:cNvSpPr>
          <p:nvPr>
            <p:ph type="sldNum" sz="quarter" idx="12"/>
          </p:nvPr>
        </p:nvSpPr>
        <p:spPr/>
        <p:txBody>
          <a:bodyPr/>
          <a:lstStyle/>
          <a:p>
            <a:fld id="{9B618960-8005-486C-9A75-10CB2AAC16F9}" type="slidenum">
              <a:rPr lang="en-US" smtClean="0"/>
              <a:t>12</a:t>
            </a:fld>
            <a:endParaRPr lang="en-US"/>
          </a:p>
        </p:txBody>
      </p:sp>
      <p:pic>
        <p:nvPicPr>
          <p:cNvPr id="5" name="Picture 4">
            <a:extLst>
              <a:ext uri="{FF2B5EF4-FFF2-40B4-BE49-F238E27FC236}">
                <a16:creationId xmlns:a16="http://schemas.microsoft.com/office/drawing/2014/main" id="{4AF9A92D-9400-EF26-E95F-BE5931829561}"/>
              </a:ext>
            </a:extLst>
          </p:cNvPr>
          <p:cNvPicPr>
            <a:picLocks noChangeAspect="1"/>
          </p:cNvPicPr>
          <p:nvPr/>
        </p:nvPicPr>
        <p:blipFill>
          <a:blip r:embed="rId2"/>
          <a:stretch>
            <a:fillRect/>
          </a:stretch>
        </p:blipFill>
        <p:spPr>
          <a:xfrm>
            <a:off x="1536970" y="301556"/>
            <a:ext cx="9105090" cy="6488349"/>
          </a:xfrm>
          <a:prstGeom prst="rect">
            <a:avLst/>
          </a:prstGeom>
        </p:spPr>
      </p:pic>
    </p:spTree>
    <p:extLst>
      <p:ext uri="{BB962C8B-B14F-4D97-AF65-F5344CB8AC3E}">
        <p14:creationId xmlns:p14="http://schemas.microsoft.com/office/powerpoint/2010/main" val="2134612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DCABA5-8E3D-DB6C-FFBC-666DEA8EB728}"/>
              </a:ext>
            </a:extLst>
          </p:cNvPr>
          <p:cNvSpPr>
            <a:spLocks noGrp="1"/>
          </p:cNvSpPr>
          <p:nvPr>
            <p:ph type="ftr" sz="quarter" idx="11"/>
          </p:nvPr>
        </p:nvSpPr>
        <p:spPr/>
        <p:txBody>
          <a:bodyPr/>
          <a:lstStyle/>
          <a:p>
            <a:r>
              <a:rPr lang="en-US"/>
              <a:t>Dept Of CSE,EWCE</a:t>
            </a:r>
          </a:p>
        </p:txBody>
      </p:sp>
      <p:sp>
        <p:nvSpPr>
          <p:cNvPr id="3" name="Slide Number Placeholder 2">
            <a:extLst>
              <a:ext uri="{FF2B5EF4-FFF2-40B4-BE49-F238E27FC236}">
                <a16:creationId xmlns:a16="http://schemas.microsoft.com/office/drawing/2014/main" id="{DABAA0C1-B042-C7FB-848A-AB878E7776A4}"/>
              </a:ext>
            </a:extLst>
          </p:cNvPr>
          <p:cNvSpPr>
            <a:spLocks noGrp="1"/>
          </p:cNvSpPr>
          <p:nvPr>
            <p:ph type="sldNum" sz="quarter" idx="12"/>
          </p:nvPr>
        </p:nvSpPr>
        <p:spPr/>
        <p:txBody>
          <a:bodyPr/>
          <a:lstStyle/>
          <a:p>
            <a:fld id="{9B618960-8005-486C-9A75-10CB2AAC16F9}" type="slidenum">
              <a:rPr lang="en-US" smtClean="0"/>
              <a:t>13</a:t>
            </a:fld>
            <a:endParaRPr lang="en-US"/>
          </a:p>
        </p:txBody>
      </p:sp>
      <p:pic>
        <p:nvPicPr>
          <p:cNvPr id="5" name="Picture 4">
            <a:extLst>
              <a:ext uri="{FF2B5EF4-FFF2-40B4-BE49-F238E27FC236}">
                <a16:creationId xmlns:a16="http://schemas.microsoft.com/office/drawing/2014/main" id="{FFB0B26B-7A72-942E-9C05-6665EE121567}"/>
              </a:ext>
            </a:extLst>
          </p:cNvPr>
          <p:cNvPicPr>
            <a:picLocks noChangeAspect="1"/>
          </p:cNvPicPr>
          <p:nvPr/>
        </p:nvPicPr>
        <p:blipFill>
          <a:blip r:embed="rId2"/>
          <a:stretch>
            <a:fillRect/>
          </a:stretch>
        </p:blipFill>
        <p:spPr>
          <a:xfrm>
            <a:off x="0" y="0"/>
            <a:ext cx="12192000" cy="6356350"/>
          </a:xfrm>
          <a:prstGeom prst="rect">
            <a:avLst/>
          </a:prstGeom>
        </p:spPr>
      </p:pic>
    </p:spTree>
    <p:extLst>
      <p:ext uri="{BB962C8B-B14F-4D97-AF65-F5344CB8AC3E}">
        <p14:creationId xmlns:p14="http://schemas.microsoft.com/office/powerpoint/2010/main" val="2555588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B0E29-C695-C7A7-BC1D-837190BCF96F}"/>
              </a:ext>
            </a:extLst>
          </p:cNvPr>
          <p:cNvSpPr>
            <a:spLocks noGrp="1"/>
          </p:cNvSpPr>
          <p:nvPr>
            <p:ph type="title"/>
          </p:nvPr>
        </p:nvSpPr>
        <p:spPr>
          <a:xfrm>
            <a:off x="838200" y="365126"/>
            <a:ext cx="10515600" cy="972062"/>
          </a:xfrm>
        </p:spPr>
        <p:txBody>
          <a:bodyPr>
            <a:normAutofit/>
          </a:bodyPr>
          <a:lstStyle/>
          <a:p>
            <a:pPr algn="ctr"/>
            <a:r>
              <a:rPr lang="en-IN" sz="3200" b="1" dirty="0">
                <a:solidFill>
                  <a:schemeClr val="accent1">
                    <a:lumMod val="50000"/>
                  </a:schemeClr>
                </a:solidFill>
                <a:latin typeface="Algerian" panose="04020705040A02060702" pitchFamily="82" charset="0"/>
              </a:rPr>
              <a:t>REFERENCES</a:t>
            </a:r>
          </a:p>
        </p:txBody>
      </p:sp>
      <p:sp>
        <p:nvSpPr>
          <p:cNvPr id="3" name="Content Placeholder 2">
            <a:extLst>
              <a:ext uri="{FF2B5EF4-FFF2-40B4-BE49-F238E27FC236}">
                <a16:creationId xmlns:a16="http://schemas.microsoft.com/office/drawing/2014/main" id="{A3AC815F-03A9-EBE6-AE03-932F9E06DBE0}"/>
              </a:ext>
            </a:extLst>
          </p:cNvPr>
          <p:cNvSpPr>
            <a:spLocks noGrp="1"/>
          </p:cNvSpPr>
          <p:nvPr>
            <p:ph idx="1"/>
          </p:nvPr>
        </p:nvSpPr>
        <p:spPr>
          <a:xfrm>
            <a:off x="838200" y="1268361"/>
            <a:ext cx="10515600" cy="4906297"/>
          </a:xfrm>
        </p:spPr>
        <p:txBody>
          <a:bodyPr>
            <a:normAutofit fontScale="85000" lnSpcReduction="10000"/>
          </a:bodyPr>
          <a:lstStyle/>
          <a:p>
            <a:pPr algn="just">
              <a:lnSpc>
                <a:spcPct val="110000"/>
              </a:lnSpc>
            </a:pPr>
            <a:r>
              <a:rPr lang="en-IN" dirty="0">
                <a:latin typeface="Times New Roman" panose="02020603050405020304" pitchFamily="18" charset="0"/>
                <a:cs typeface="Times New Roman" panose="02020603050405020304" pitchFamily="18" charset="0"/>
              </a:rPr>
              <a:t>T. Meurs, E. Cartwright, A. Cartwright, M. Junger, and A. Abhishta, “Deception in double extortion ransomware attacks: An analysis of profitability and credibility,” Computers &amp; Security, vol. 138, p. 103670, 2024. </a:t>
            </a:r>
          </a:p>
          <a:p>
            <a:pPr algn="just">
              <a:lnSpc>
                <a:spcPct val="110000"/>
              </a:lnSpc>
            </a:pPr>
            <a:r>
              <a:rPr lang="en-IN" dirty="0">
                <a:latin typeface="Times New Roman" panose="02020603050405020304" pitchFamily="18" charset="0"/>
                <a:cs typeface="Times New Roman" panose="02020603050405020304" pitchFamily="18" charset="0"/>
              </a:rPr>
              <a:t>J. Lee, J. Yun, and K. Lee, “A study on countermeasures against neu realizing technology: Encoding algorithm-based ransomware detection methods using machine learning,” Electronics, vol. 13, no. 6, p. 1030, 2024. </a:t>
            </a:r>
          </a:p>
          <a:p>
            <a:pPr algn="just">
              <a:lnSpc>
                <a:spcPct val="110000"/>
              </a:lnSpc>
            </a:pPr>
            <a:r>
              <a:rPr lang="en-IN" dirty="0">
                <a:latin typeface="Times New Roman" panose="02020603050405020304" pitchFamily="18" charset="0"/>
                <a:cs typeface="Times New Roman" panose="02020603050405020304" pitchFamily="18" charset="0"/>
              </a:rPr>
              <a:t> A. Mehrban and S. K. Geransayeh, “Ransomware threat mitigation through network traffic analysis and machine learning techniques,” arrive preprint arXiv:2401.15285, 2024. </a:t>
            </a:r>
          </a:p>
          <a:p>
            <a:pPr algn="just">
              <a:lnSpc>
                <a:spcPct val="110000"/>
              </a:lnSpc>
            </a:pPr>
            <a:r>
              <a:rPr lang="en-IN" dirty="0">
                <a:latin typeface="Times New Roman" panose="02020603050405020304" pitchFamily="18" charset="0"/>
                <a:cs typeface="Times New Roman" panose="02020603050405020304" pitchFamily="18" charset="0"/>
              </a:rPr>
              <a:t> O. Dib, Z. Nan, and J. Liu, “Machine learning-based ransomware classification of bitcoin transactions,” Journal of King Saud University Computer and Information Sciences, vol. 36, no. 1, p. 101925, 2024</a:t>
            </a:r>
          </a:p>
        </p:txBody>
      </p:sp>
      <p:sp>
        <p:nvSpPr>
          <p:cNvPr id="4" name="Footer Placeholder 3">
            <a:extLst>
              <a:ext uri="{FF2B5EF4-FFF2-40B4-BE49-F238E27FC236}">
                <a16:creationId xmlns:a16="http://schemas.microsoft.com/office/drawing/2014/main" id="{FC7000D7-A97F-93BB-4A12-7941F651B737}"/>
              </a:ext>
            </a:extLst>
          </p:cNvPr>
          <p:cNvSpPr>
            <a:spLocks noGrp="1"/>
          </p:cNvSpPr>
          <p:nvPr>
            <p:ph type="ftr" sz="quarter" idx="11"/>
          </p:nvPr>
        </p:nvSpPr>
        <p:spPr>
          <a:xfrm>
            <a:off x="4038600" y="6492875"/>
            <a:ext cx="4114800" cy="365125"/>
          </a:xfrm>
        </p:spPr>
        <p:txBody>
          <a:bodyPr/>
          <a:lstStyle/>
          <a:p>
            <a:r>
              <a:rPr lang="en-US"/>
              <a:t>Dept Of CSE,EWCE</a:t>
            </a:r>
          </a:p>
        </p:txBody>
      </p:sp>
      <p:sp>
        <p:nvSpPr>
          <p:cNvPr id="5" name="Slide Number Placeholder 4">
            <a:extLst>
              <a:ext uri="{FF2B5EF4-FFF2-40B4-BE49-F238E27FC236}">
                <a16:creationId xmlns:a16="http://schemas.microsoft.com/office/drawing/2014/main" id="{A514AAAB-71E9-E3DD-88C9-3E08B58C81A6}"/>
              </a:ext>
            </a:extLst>
          </p:cNvPr>
          <p:cNvSpPr>
            <a:spLocks noGrp="1"/>
          </p:cNvSpPr>
          <p:nvPr>
            <p:ph type="sldNum" sz="quarter" idx="12"/>
          </p:nvPr>
        </p:nvSpPr>
        <p:spPr/>
        <p:txBody>
          <a:bodyPr/>
          <a:lstStyle/>
          <a:p>
            <a:fld id="{9B618960-8005-486C-9A75-10CB2AAC16F9}" type="slidenum">
              <a:rPr lang="en-US" smtClean="0"/>
              <a:t>14</a:t>
            </a:fld>
            <a:endParaRPr lang="en-US"/>
          </a:p>
        </p:txBody>
      </p:sp>
    </p:spTree>
    <p:extLst>
      <p:ext uri="{BB962C8B-B14F-4D97-AF65-F5344CB8AC3E}">
        <p14:creationId xmlns:p14="http://schemas.microsoft.com/office/powerpoint/2010/main" val="3663286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BC8EDD-85A5-58E9-FA6D-83355A63D814}"/>
              </a:ext>
            </a:extLst>
          </p:cNvPr>
          <p:cNvSpPr>
            <a:spLocks noGrp="1"/>
          </p:cNvSpPr>
          <p:nvPr>
            <p:ph type="ftr" sz="quarter" idx="11"/>
          </p:nvPr>
        </p:nvSpPr>
        <p:spPr/>
        <p:txBody>
          <a:bodyPr/>
          <a:lstStyle/>
          <a:p>
            <a:r>
              <a:rPr lang="en-US"/>
              <a:t>Dept Of CSE,EWCE</a:t>
            </a:r>
          </a:p>
        </p:txBody>
      </p:sp>
      <p:sp>
        <p:nvSpPr>
          <p:cNvPr id="3" name="Slide Number Placeholder 2">
            <a:extLst>
              <a:ext uri="{FF2B5EF4-FFF2-40B4-BE49-F238E27FC236}">
                <a16:creationId xmlns:a16="http://schemas.microsoft.com/office/drawing/2014/main" id="{C9A92F39-55FC-DD6E-6AC8-357110F8D2EE}"/>
              </a:ext>
            </a:extLst>
          </p:cNvPr>
          <p:cNvSpPr>
            <a:spLocks noGrp="1"/>
          </p:cNvSpPr>
          <p:nvPr>
            <p:ph type="sldNum" sz="quarter" idx="12"/>
          </p:nvPr>
        </p:nvSpPr>
        <p:spPr/>
        <p:txBody>
          <a:bodyPr/>
          <a:lstStyle/>
          <a:p>
            <a:fld id="{9B618960-8005-486C-9A75-10CB2AAC16F9}" type="slidenum">
              <a:rPr lang="en-US" smtClean="0"/>
              <a:t>15</a:t>
            </a:fld>
            <a:endParaRPr lang="en-US"/>
          </a:p>
        </p:txBody>
      </p:sp>
      <p:sp>
        <p:nvSpPr>
          <p:cNvPr id="4" name="TextBox 3">
            <a:extLst>
              <a:ext uri="{FF2B5EF4-FFF2-40B4-BE49-F238E27FC236}">
                <a16:creationId xmlns:a16="http://schemas.microsoft.com/office/drawing/2014/main" id="{49EF06DE-A448-6C83-62E2-09C3B461EE59}"/>
              </a:ext>
            </a:extLst>
          </p:cNvPr>
          <p:cNvSpPr txBox="1"/>
          <p:nvPr/>
        </p:nvSpPr>
        <p:spPr>
          <a:xfrm>
            <a:off x="5758774" y="3151762"/>
            <a:ext cx="184731" cy="369332"/>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A11F3D35-4002-AF9E-36E7-88CF1DB1E9A2}"/>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2630252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621</TotalTime>
  <Words>1089</Words>
  <Application>Microsoft Office PowerPoint</Application>
  <PresentationFormat>Widescreen</PresentationFormat>
  <Paragraphs>167</Paragraphs>
  <Slides>15</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Slide Titles</vt:lpstr>
      </vt:variant>
      <vt:variant>
        <vt:i4>15</vt:i4>
      </vt:variant>
      <vt:variant>
        <vt:lpstr>Custom Shows</vt:lpstr>
      </vt:variant>
      <vt:variant>
        <vt:i4>2</vt:i4>
      </vt:variant>
    </vt:vector>
  </HeadingPairs>
  <TitlesOfParts>
    <vt:vector size="27" baseType="lpstr">
      <vt:lpstr>Algerian</vt:lpstr>
      <vt:lpstr>Arial</vt:lpstr>
      <vt:lpstr>Arial Black</vt:lpstr>
      <vt:lpstr>Calibri</vt:lpstr>
      <vt:lpstr>Calibri Light</vt:lpstr>
      <vt:lpstr>Cambria</vt:lpstr>
      <vt:lpstr>Palatino Linotype</vt:lpstr>
      <vt:lpstr>Times New Roman</vt:lpstr>
      <vt:lpstr>Wingdings</vt:lpstr>
      <vt:lpstr>Office Theme</vt:lpstr>
      <vt:lpstr>PowerPoint Presentation</vt:lpstr>
      <vt:lpstr>contents</vt:lpstr>
      <vt:lpstr>                                          ABSTRACT</vt:lpstr>
      <vt:lpstr>                                INTRODUCTION</vt:lpstr>
      <vt:lpstr>LITRATURE SURVEY</vt:lpstr>
      <vt:lpstr>PowerPoint Presentation</vt:lpstr>
      <vt:lpstr>PROBLEM STATEMENT</vt:lpstr>
      <vt:lpstr>OBJECTIVES AND SCOPE</vt:lpstr>
      <vt:lpstr>REQUIREMENTS</vt:lpstr>
      <vt:lpstr>METHODOLOGY</vt:lpstr>
      <vt:lpstr>PowerPoint Presentation</vt:lpstr>
      <vt:lpstr>PowerPoint Presentation</vt:lpstr>
      <vt:lpstr>PowerPoint Presentation</vt:lpstr>
      <vt:lpstr>REFERENCES</vt:lpstr>
      <vt:lpstr>PowerPoint Presentation</vt:lpstr>
      <vt:lpstr>Custom Show 1</vt:lpstr>
      <vt:lpstr>Custom Show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Anusha Managanal</dc:creator>
  <cp:lastModifiedBy>anushapatil2580@gmail.com</cp:lastModifiedBy>
  <cp:revision>20</cp:revision>
  <dcterms:created xsi:type="dcterms:W3CDTF">2025-07-23T00:59:00Z</dcterms:created>
  <dcterms:modified xsi:type="dcterms:W3CDTF">2026-08-24T13:31:39Z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30534C1BD42B4CBA9B5E46490AB1EFEC_11</vt:lpwstr>
  </property>
  <property fmtid="{D5CDD505-2E9C-101B-9397-08002B2CF9AE}" pid="3" name="KSOProductBuildVer">
    <vt:lpwstr>2057-12.2.0.23196</vt:lpwstr>
  </property>
</Properties>
</file>